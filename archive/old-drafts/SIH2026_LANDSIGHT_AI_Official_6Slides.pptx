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5486400" cy="384048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SMART INDIA HACKATHON 2026  |  COLLEGE INTERNAL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9FA"/>
                </a:solidFill>
              </a:defRPr>
            </a:pPr>
            <a:r>
              <a:t>LANDSIGHT AI</a:t>
            </a:r>
          </a:p>
          <a:p>
            <a:pPr>
              <a:defRPr sz="1900" b="1">
                <a:solidFill>
                  <a:srgbClr val="0099FF"/>
                </a:solidFill>
              </a:defRPr>
            </a:pPr>
            <a:r>
              <a:t>AI-Based Early Warning &amp; Landslide Monitoring System for North Eastern Region</a:t>
            </a:r>
          </a:p>
          <a:p>
            <a:pPr>
              <a:defRPr sz="1400" i="1">
                <a:solidFill>
                  <a:srgbClr val="FFC107"/>
                </a:solidFill>
              </a:defRPr>
            </a:pPr>
            <a:r>
              <a:t>“Predict Risk. Protect Lives. Connect Communities.”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4937760" cy="30175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64FFDA"/>
                </a:solidFill>
              </a:defRPr>
            </a:pPr>
            <a:r>
              <a:t>PROJECT SPECIFICATIONS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Problem ID: </a:t>
            </a:r>
            <a:r>
              <a:rPr b="0">
                <a:solidFill>
                  <a:srgbClr val="8892B0"/>
                </a:solidFill>
              </a:rPr>
              <a:t>SIH26001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Theme: </a:t>
            </a:r>
            <a:r>
              <a:rPr b="0">
                <a:solidFill>
                  <a:srgbClr val="8892B0"/>
                </a:solidFill>
              </a:rPr>
              <a:t>Disaster Management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Category: </a:t>
            </a:r>
            <a:r>
              <a:rPr b="0">
                <a:solidFill>
                  <a:srgbClr val="8892B0"/>
                </a:solidFill>
              </a:rPr>
              <a:t>Software Edition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Ministry: </a:t>
            </a:r>
            <a:r>
              <a:rPr b="0">
                <a:solidFill>
                  <a:srgbClr val="8892B0"/>
                </a:solidFill>
              </a:rPr>
              <a:t>Ministry of Development of North Eastern Region (MDoNER)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Target Focus: </a:t>
            </a:r>
            <a:r>
              <a:rPr b="0">
                <a:solidFill>
                  <a:srgbClr val="8892B0"/>
                </a:solidFill>
              </a:rPr>
              <a:t>8 North Eastern States (Sikkim, Assam, Meghalaya, etc.)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•  Key Innovation: </a:t>
            </a:r>
            <a:r>
              <a:rPr b="0">
                <a:solidFill>
                  <a:srgbClr val="8892B0"/>
                </a:solidFill>
              </a:rPr>
              <a:t>Dynamic Risk + Connectivity Impact + Offline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029200" cy="30175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FFC107"/>
                </a:solidFill>
              </a:defRPr>
            </a:pPr>
            <a:r>
              <a:t>SUBMISSION &amp; TEAM PROFILE</a:t>
            </a:r>
          </a:p>
          <a:p>
            <a:pPr>
              <a:defRPr b="1" sz="1100">
                <a:solidFill>
                  <a:srgbClr val="F8F9FA"/>
                </a:solidFill>
              </a:defRPr>
            </a:pPr>
            <a:r>
              <a:t>Team Name: [TEAM NAME]  |  Internal Evaluation</a:t>
            </a:r>
          </a:p>
          <a:p>
            <a:pPr>
              <a:defRPr sz="1050">
                <a:solidFill>
                  <a:srgbClr val="64FFDA"/>
                </a:solidFill>
              </a:defRPr>
            </a:pPr>
            <a:r>
              <a:t>Institution: [COLLEGE / INSTITUTION NAME]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Team Roster (6 Members):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1. [Leader Name] — </a:t>
            </a:r>
            <a:r>
              <a:rPr sz="950">
                <a:solidFill>
                  <a:srgbClr val="8892B0"/>
                </a:solidFill>
              </a:rPr>
              <a:t>Team Leader &amp; AI/ML Architecture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2. [Member 2 Name] — </a:t>
            </a:r>
            <a:r>
              <a:rPr sz="950">
                <a:solidFill>
                  <a:srgbClr val="8892B0"/>
                </a:solidFill>
              </a:rPr>
              <a:t>Frontend &amp; UI/UX Specialist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3. [Member 3 Name] — </a:t>
            </a:r>
            <a:r>
              <a:rPr sz="950">
                <a:solidFill>
                  <a:srgbClr val="8892B0"/>
                </a:solidFill>
              </a:rPr>
              <a:t>Backend API &amp; PostGIS Dev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4. [Member 4 Name] — </a:t>
            </a:r>
            <a:r>
              <a:rPr sz="950">
                <a:solidFill>
                  <a:srgbClr val="8892B0"/>
                </a:solidFill>
              </a:rPr>
              <a:t>Mobile App (Flutter) &amp; Offline Storage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5. [Member 5 Name] — </a:t>
            </a:r>
            <a:r>
              <a:rPr sz="950">
                <a:solidFill>
                  <a:srgbClr val="8892B0"/>
                </a:solidFill>
              </a:rPr>
              <a:t>Geospatial &amp; Road Network Analyst</a:t>
            </a:r>
          </a:p>
          <a:p>
            <a:pPr>
              <a:defRPr sz="950" b="1">
                <a:solidFill>
                  <a:srgbClr val="F8F9FA"/>
                </a:solidFill>
              </a:defRPr>
            </a:pPr>
            <a:r>
              <a:t>• 6. [Member 6 Name] — </a:t>
            </a:r>
            <a:r>
              <a:rPr sz="950">
                <a:solidFill>
                  <a:srgbClr val="8892B0"/>
                </a:solidFill>
              </a:rPr>
              <a:t>Cloud, Edge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SIH 2026 | PS ID: SIH26001 | MDoNER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THE CHALLENGE: Critical Landslide Realities in North Eastern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892B0"/>
                </a:solidFill>
              </a:defRPr>
            </a:pPr>
            <a:r>
              <a:t>LANDSIGHT AI  •  Predict Risk. Protect Lives. Connect Communities.  •  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100">
                <a:solidFill>
                  <a:srgbClr val="FF3D00"/>
                </a:solidFill>
              </a:defRPr>
            </a:pPr>
            <a:r>
              <a:t>PROBLEM SUMMARY: </a:t>
            </a:r>
            <a:r>
              <a:rPr b="0">
                <a:solidFill>
                  <a:srgbClr val="F8F9FA"/>
                </a:solidFill>
              </a:rPr>
              <a:t>NER faces extreme rainfall &amp; steep geology, causing catastrophic landslides that sever critical arterial highways (NH-10, NH-29), isolate remote tribal villages, and cut hospital access with zero proactive connectivity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FF9100"/>
                </a:solidFill>
              </a:defRPr>
            </a:pPr>
            <a:r>
              <a:t>1. GEOGRAPHICAL VULNERABILITY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Heavy monsoon &amp; cloudbursts exceed soil shear strength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Steep terrain &amp; young Himalayas cause sudden slope slips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Over 70% of NER land is landslide-prone mountain zone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FFD600"/>
                </a:solidFill>
              </a:defRPr>
            </a:pPr>
            <a:r>
              <a:t>2. INFRASTRUCTURE &amp; COMMUNICATION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Remote villages depend on single lifeline mountain roads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Unstable cellular network leaves zero connectivity in rain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Rockfalls cut power, cellular towers, and medical corridors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48840"/>
            <a:ext cx="3383280" cy="210312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150" b="1">
                <a:solidFill>
                  <a:srgbClr val="FF3D00"/>
                </a:solidFill>
              </a:defRPr>
            </a:pPr>
            <a:r>
              <a:t>3. DECISION SYSTEM GAPS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Authorities receive ground reports hours/days too late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Existing systems predict hazard presence, NOT impact</a:t>
            </a:r>
          </a:p>
          <a:p>
            <a:pPr>
              <a:defRPr sz="950">
                <a:solidFill>
                  <a:srgbClr val="F8F9FA"/>
                </a:solidFill>
              </a:defRPr>
            </a:pPr>
            <a:r>
              <a:t>• No intelligence on which villages cut off or alternate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1874519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200" b="1">
                <a:solidFill>
                  <a:srgbClr val="64FFDA"/>
                </a:solidFill>
              </a:defRPr>
            </a:pPr>
            <a:r>
              <a:t>PARADIGM SHIFT: REACTIVE TRAGEDY  ➔  PROACTIVE PREPAREDNESS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892040"/>
            <a:ext cx="4754880" cy="1188720"/>
          </a:xfrm>
          <a:prstGeom prst="roundRect">
            <a:avLst/>
          </a:prstGeom>
          <a:solidFill>
            <a:srgbClr val="2A1215"/>
          </a:solidFill>
          <a:ln w="1270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3D00"/>
                </a:solidFill>
              </a:defRPr>
            </a:pPr>
            <a:r>
              <a:t>CURRENT SITUATION (REACTIVE)</a:t>
            </a:r>
          </a:p>
          <a:p>
            <a:pPr>
              <a:defRPr b="1" sz="1000">
                <a:solidFill>
                  <a:srgbClr val="F8F9FA"/>
                </a:solidFill>
              </a:defRPr>
            </a:pPr>
            <a:r>
              <a:t>Detect Hazard  ➔  Disaster Strikes  ➔  Chaos &amp; Isolation  ➔  Delayed Reaction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Villages isolated for weeks | Medical emergencies stranded | Zero impact 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4937760" cy="1188720"/>
          </a:xfrm>
          <a:prstGeom prst="roundRect">
            <a:avLst/>
          </a:prstGeom>
          <a:solidFill>
            <a:srgbClr val="0C2A24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E676"/>
                </a:solidFill>
              </a:defRPr>
            </a:pPr>
            <a:r>
              <a:t>OUR VISION: LANDSIGHT AI (PROACTIVE)</a:t>
            </a:r>
          </a:p>
          <a:p>
            <a:pPr>
              <a:defRPr b="1" sz="1000">
                <a:solidFill>
                  <a:srgbClr val="F8F9FA"/>
                </a:solidFill>
              </a:defRPr>
            </a:pPr>
            <a:r>
              <a:t>Predict Multi-Risk  ➔  Pre-Alert Authorities  ➔  Reroute Lifelines  ➔  Prompt Relief</a:t>
            </a:r>
          </a:p>
          <a:p>
            <a:pPr>
              <a:defRPr sz="850">
                <a:solidFill>
                  <a:srgbClr val="64FFDA"/>
                </a:solidFill>
              </a:defRPr>
            </a:pPr>
            <a:r>
              <a:t>• 6-12 hr pre-warning | Alternate routes mapped | Ambulances &amp; supplies pre-deployed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SIH 2026 | PS ID: SIH26001 | MDoNER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PROPOSED SOLUTION: Introducing LANDSIGHT AI Intelligent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892B0"/>
                </a:solidFill>
              </a:defRPr>
            </a:pPr>
            <a:r>
              <a:t>LANDSIGHT AI  •  Predict Risk. Protect Lives. Connect Communities.  •  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858000" cy="4892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099FF"/>
                </a:solidFill>
              </a:defRPr>
            </a:pPr>
            <a:r>
              <a:t>INTELLIGENT DATA &amp; DECISION PIPELINE</a:t>
            </a:r>
          </a:p>
          <a:p>
            <a:pPr>
              <a:defRPr b="1" sz="1050">
                <a:solidFill>
                  <a:srgbClr val="64FFDA"/>
                </a:solidFill>
              </a:defRPr>
            </a:pPr>
            <a:r>
              <a:t>▼  1. MULTI-SOURCE INPUT FUSION</a:t>
            </a:r>
          </a:p>
          <a:p>
            <a:pPr>
              <a:defRPr sz="900">
                <a:solidFill>
                  <a:srgbClr val="8892B0"/>
                </a:solidFill>
              </a:defRPr>
            </a:pPr>
            <a:r>
              <a:t>IMD Rainfall + SMAP Soil Moisture + SRTM Slope/Elevation + Sentinel-2 Satellite Imagery + Historical GSI Landslides + Offline Citizen Reports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▼  2. AI DYNAMIC RISK ENGINE</a:t>
            </a:r>
          </a:p>
          <a:p>
            <a:pPr>
              <a:defRPr sz="900">
                <a:solidFill>
                  <a:srgbClr val="8892B0"/>
                </a:solidFill>
              </a:defRPr>
            </a:pPr>
            <a:r>
              <a:t>Machine learning ensemble (XGBoost + Random Forest + Spatial CNN) processes live environmental triggers into localized risk coefficients</a:t>
            </a:r>
          </a:p>
          <a:p>
            <a:pPr>
              <a:defRPr b="1" sz="1050">
                <a:solidFill>
                  <a:srgbClr val="F8F9FA"/>
                </a:solidFill>
              </a:defRPr>
            </a:pPr>
            <a:r>
              <a:t>▼  3. GIS RISK MAPPING &amp; SPATIAL OVERLAY</a:t>
            </a:r>
          </a:p>
          <a:p>
            <a:pPr>
              <a:defRPr sz="900">
                <a:solidFill>
                  <a:srgbClr val="8892B0"/>
                </a:solidFill>
              </a:defRPr>
            </a:pPr>
            <a:r>
              <a:t>Dynamic polygon risk heatmaps rendered via PostGIS &amp; Mapbox/Leaflet with 30m spatial resolution across vulnerable corridors</a:t>
            </a:r>
          </a:p>
          <a:p>
            <a:pPr>
              <a:defRPr b="1" sz="1050">
                <a:solidFill>
                  <a:srgbClr val="FFC107"/>
                </a:solidFill>
              </a:defRPr>
            </a:pPr>
            <a:r>
              <a:t>▼  4. CONNECTIVITY &amp; IMPACT INTELLIGENCE</a:t>
            </a:r>
          </a:p>
          <a:p>
            <a:pPr>
              <a:defRPr sz="900">
                <a:solidFill>
                  <a:srgbClr val="8892B0"/>
                </a:solidFill>
              </a:defRPr>
            </a:pPr>
            <a:r>
              <a:t>PostGIS Dijkstra graph engine calculates road blockages, isolated village clusters, hospital accessibility &amp; alternate emergency corridors</a:t>
            </a:r>
          </a:p>
          <a:p>
            <a:pPr>
              <a:defRPr b="1" sz="1050">
                <a:solidFill>
                  <a:srgbClr val="00E676"/>
                </a:solidFill>
              </a:defRPr>
            </a:pPr>
            <a:r>
              <a:t>▼  5. MULTI-STAKEHOLDER ACTION OUTPUTS</a:t>
            </a:r>
          </a:p>
          <a:p>
            <a:pPr>
              <a:defRPr sz="900">
                <a:solidFill>
                  <a:srgbClr val="8892B0"/>
                </a:solidFill>
              </a:defRPr>
            </a:pPr>
            <a:r>
              <a:t>Automated SMS/FCM early warnings to citizens, NDMA/SDRF priority dashboard, and offline mobile guidance for field responders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657600" cy="4892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F8F9FA"/>
                </a:solidFill>
              </a:defRPr>
            </a:pPr>
            <a:r>
              <a:t>DYNAMIC RISK CLASSIFICATION</a:t>
            </a:r>
          </a:p>
          <a:p>
            <a:pPr>
              <a:defRPr b="1" sz="1000">
                <a:solidFill>
                  <a:srgbClr val="00E676"/>
                </a:solidFill>
              </a:defRPr>
            </a:pPr>
            <a:r>
              <a:t>■  GREEN: LOW RISK (0 - 30%)</a:t>
            </a:r>
          </a:p>
          <a:p>
            <a:pPr>
              <a:defRPr sz="850">
                <a:solidFill>
                  <a:srgbClr val="F8F9FA"/>
                </a:solidFill>
              </a:defRPr>
            </a:pPr>
            <a:r>
              <a:t>Normal terrain stability. Regular automated satellite &amp; weather polling. No disruption to road traffic.</a:t>
            </a:r>
          </a:p>
          <a:p>
            <a:pPr>
              <a:defRPr b="1" sz="1000">
                <a:solidFill>
                  <a:srgbClr val="FFD600"/>
                </a:solidFill>
              </a:defRPr>
            </a:pPr>
            <a:r>
              <a:t>■  YELLOW: MODERATE (31 - 60%)</a:t>
            </a:r>
          </a:p>
          <a:p>
            <a:pPr>
              <a:defRPr sz="850">
                <a:solidFill>
                  <a:srgbClr val="F8F9FA"/>
                </a:solidFill>
              </a:defRPr>
            </a:pPr>
            <a:r>
              <a:t>Elevated saturation or light rainfall. Advisory issued to highway patrols; field officers alerted to watch slopes.</a:t>
            </a:r>
          </a:p>
          <a:p>
            <a:pPr>
              <a:defRPr b="1" sz="1000">
                <a:solidFill>
                  <a:srgbClr val="FF9100"/>
                </a:solidFill>
              </a:defRPr>
            </a:pPr>
            <a:r>
              <a:t>■  ORANGE: HIGH RISK (61 - 80%)</a:t>
            </a:r>
          </a:p>
          <a:p>
            <a:pPr>
              <a:defRPr sz="850">
                <a:solidFill>
                  <a:srgbClr val="F8F9FA"/>
                </a:solidFill>
              </a:defRPr>
            </a:pPr>
            <a:r>
              <a:t>Heavy precipitation + steep slope trigger. Pre-warning alerts to transport authorities; heavy vehicles restricted.</a:t>
            </a:r>
          </a:p>
          <a:p>
            <a:pPr>
              <a:defRPr b="1" sz="1000">
                <a:solidFill>
                  <a:srgbClr val="FF3D00"/>
                </a:solidFill>
              </a:defRPr>
            </a:pPr>
            <a:r>
              <a:t>■  RED: CRITICAL RISK (81 - 100%)</a:t>
            </a:r>
          </a:p>
          <a:p>
            <a:pPr>
              <a:defRPr sz="850">
                <a:solidFill>
                  <a:srgbClr val="F8F9FA"/>
                </a:solidFill>
              </a:defRPr>
            </a:pPr>
            <a:r>
              <a:t>Imminent landslide danger. Instant Siren/SMS push, bypass corridor active, NDRF/SDRF mobilization ordered.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SIH 2026 | PS ID: SIH26001 | MDoNER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WHY LANDSIGHT AI IS DIFFERENT: Key Innovations &amp; USPs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892B0"/>
                </a:solidFill>
              </a:defRPr>
            </a:pPr>
            <a:r>
              <a:t>LANDSIGHT AI  •  Predict Risk. Protect Lives. Connect Communities.  •  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CARD 1: MULTI-SOURCE AI RISK ENGINE</a:t>
            </a:r>
          </a:p>
          <a:p>
            <a:pPr>
              <a:defRPr sz="950" i="1">
                <a:solidFill>
                  <a:srgbClr val="F8F9FA"/>
                </a:solidFill>
              </a:defRPr>
            </a:pPr>
            <a:r>
              <a:t>Holistic Data Fusion Beyond Simple Rain Gauges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Synthesizes 6 distinct environmental &amp; human streams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Combines static factors (slope, geology, soil type) with dynamic triggers (24h/72h rainfall, moisture saturation)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Eliminates false alarms via multi-sensor cross-validation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423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C107"/>
                </a:solidFill>
              </a:defRPr>
            </a:pPr>
            <a:r>
              <a:t>CARD 2: CONNECTIVITY IMPACT INTELLIGENCE</a:t>
            </a:r>
          </a:p>
          <a:p>
            <a:pPr>
              <a:defRPr sz="950" i="1">
                <a:solidFill>
                  <a:srgbClr val="F8F9FA"/>
                </a:solidFill>
              </a:defRPr>
            </a:pPr>
            <a:r>
              <a:t>Beyond Prediction: Answering 'What Gets Cut Off?'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Autonomous Road Blockage &amp; Isolation Prediction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Pinpoints isolated villages &amp; cut-off primary health centers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Auto-computes safest alternative emergency corridors (Dijkstra)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Prioritizes emergency dispatch before disaster strikes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423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CARD 3: OFFLINE COMMUNITY &amp; FIELD REPORTING</a:t>
            </a:r>
          </a:p>
          <a:p>
            <a:pPr>
              <a:defRPr sz="950" i="1">
                <a:solidFill>
                  <a:srgbClr val="F8F9FA"/>
                </a:solidFill>
              </a:defRPr>
            </a:pPr>
            <a:r>
              <a:t>Zero-Internet Ground Intelligence for Remote Valleys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Lightweight Flutter Mobile App with local SQLite cache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Locals &amp; officers log ground cracks, rockfalls &amp; slope slips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Geotagged photos + EXIF metadata queued offline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Auto-syncs instantly when connection is restored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4231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FF3D00"/>
                </a:solidFill>
              </a:defRPr>
            </a:pPr>
            <a:r>
              <a:t>CARD 4: EXPLAINABLE AI (XAI) FOR DECISION TRUST</a:t>
            </a:r>
          </a:p>
          <a:p>
            <a:pPr>
              <a:defRPr sz="950" i="1">
                <a:solidFill>
                  <a:srgbClr val="F8F9FA"/>
                </a:solidFill>
              </a:defRPr>
            </a:pPr>
            <a:r>
              <a:t>Transparent Reasoning for District Disaster Authorities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Demystifies black-box ML using SHAP factor attributions</a:t>
            </a:r>
          </a:p>
          <a:p>
            <a:pPr>
              <a:defRPr sz="850">
                <a:solidFill>
                  <a:srgbClr val="8892B0"/>
                </a:solidFill>
              </a:defRPr>
            </a:pPr>
            <a:r>
              <a:t>• Concrete audit: 'CRITICAL RISK — 87%' Breakdown:</a:t>
            </a:r>
          </a:p>
          <a:p>
            <a:pPr>
              <a:defRPr sz="850">
                <a:solidFill>
                  <a:srgbClr val="64FFDA"/>
                </a:solidFill>
              </a:defRPr>
            </a:pPr>
            <a:r>
              <a:t>• • 42% Extreme 24h Rainfall (185mm)  |  • 21% Soil Moisture (92%)</a:t>
            </a:r>
          </a:p>
          <a:p>
            <a:pPr>
              <a:defRPr sz="850">
                <a:solidFill>
                  <a:srgbClr val="64FFDA"/>
                </a:solidFill>
              </a:defRPr>
            </a:pPr>
            <a:r>
              <a:t>• • 15% Slope Angle (&gt;48°)  |  • 9% Recent Citizen Crack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SIH 2026 | PS ID: SIH26001 | MDoNER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HOW IT WORKS: 4-Tier 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892B0"/>
                </a:solidFill>
              </a:defRPr>
            </a:pPr>
            <a:r>
              <a:t>LANDSIGHT AI  •  Predict Risk. Protect Lives. Connect Communities.  •  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LAYER 1: DATA INGESTION &amp; SENSING</a:t>
            </a:r>
          </a:p>
          <a:p>
            <a:pPr>
              <a:defRPr sz="919">
                <a:solidFill>
                  <a:srgbClr val="F8F9FA"/>
                </a:solidFill>
              </a:defRPr>
            </a:pPr>
            <a:r>
              <a:t>IMD AWS Rain Data • NASA/ISRO SMAP Soil Moisture • SRTM 30m DEM Terrain • Sentinel-2 Multispectral Satellite • GSI Bhukosh Landslide Inventory • Mobile Citizen &amp; Field Officer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39"/>
            <a:ext cx="1069848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0099FF"/>
                </a:solidFill>
              </a:defRPr>
            </a:pPr>
            <a:r>
              <a:t>LAYER 2: DATA PROCESSING &amp; AI ANALYTICS ENGINE</a:t>
            </a:r>
          </a:p>
          <a:p>
            <a:pPr>
              <a:defRPr sz="919">
                <a:solidFill>
                  <a:srgbClr val="F8F9FA"/>
                </a:solidFill>
              </a:defRPr>
            </a:pPr>
            <a:r>
              <a:t>FastAPI Processing Pipeline • Pandas/NumPy Feature Engineering • ML Risk Ensemble (XGBoost + Random Forest) • SHAP Explainable AI Module • 30m Pixel-Level Risk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FFC107"/>
                </a:solidFill>
              </a:defRPr>
            </a:pPr>
            <a:r>
              <a:t>LAYER 3: GEOSPATIAL &amp; CONNECTIVITY IMPACT ENGINE</a:t>
            </a:r>
          </a:p>
          <a:p>
            <a:pPr>
              <a:defRPr sz="919">
                <a:solidFill>
                  <a:srgbClr val="F8F9FA"/>
                </a:solidFill>
              </a:defRPr>
            </a:pPr>
            <a:r>
              <a:t>PostgreSQL + PostGIS Spatial Database • pgRouting Network Graph Topology • Dijkstra Emergency Rerouting Engine • Village Isolation &amp; Critical Infrastructure Vulnerability Mapper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59"/>
            <a:ext cx="10698480" cy="9144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LAYER 4: MULTI-CHANNEL PRESENTATION &amp; DISPATCH</a:t>
            </a:r>
          </a:p>
          <a:p>
            <a:pPr>
              <a:defRPr sz="919">
                <a:solidFill>
                  <a:srgbClr val="F8F9FA"/>
                </a:solidFill>
              </a:defRPr>
            </a:pPr>
            <a:r>
              <a:t>Authority Command Dashboard (React.js + Mapbox GL) • Citizen &amp; Responder Mobile App (Flutter + SQLite Offline) • Firebase Cloud Messaging Push + CAP-compliant SMS Broadcast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00" b="1">
                <a:solidFill>
                  <a:srgbClr val="64FFDA"/>
                </a:solidFill>
              </a:defRPr>
            </a:pPr>
            <a:r>
              <a:t>TARGET TECHNOLOGY STACK (FEASIBLE &amp; PURPOSE-BUILT):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Frontend: React.js + Mapbox GL | Mobile: Flutter (Android/iOS) + SQLite Local Cache | Backend: Python + FastAPI | ML: Scikit-learn + SHAP | Spatial DB: PostgreSQL + PostGIS | Cloud: AWS EC2 + S3 | Alerts: Firebase Cloud Messaging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t>SIH 2026 | PS ID: SIH26001 | MDoNER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IMPACT BEYOND PREDICTION: Feasibility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892B0"/>
                </a:solidFill>
              </a:defRPr>
            </a:pPr>
            <a:r>
              <a:t>LANDSIGHT AI  •  Predict Risk. Protect Lives. Connect Communities.  •  Smart India 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4251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EXPECTED IMPACT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6-12 Hour Warning Window: Replaces post-disaster rescue with proactive community evacuation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Safeguards Key Lifelines: Prevents passenger stranding along NH-10 (Sikkim) &amp; NH-29 (Nagaland)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Zero Blindspots: Offline sync empowers 100+ isolated tribal hill hamlets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Data-Driven Authority Decisions: NDMA/SDMA allocate NDRF teams to high-vulnerability choke points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Economic Continuity: Cuts multi-crore highway clearance and transport standstill losses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4251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099FF"/>
                </a:solidFill>
              </a:defRPr>
            </a:pPr>
            <a:r>
              <a:t>FEASIBILITY &amp; STUDENT MVP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Open Datasets Ready: NASA SMAP, SRTM DEM, IMD Gridded Rainfall, and GSI Bhukosh are open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Modular Microservice Architecture: Allows rapid independent development across 6 team members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Focused Pilot District: Prototype validated on high-risk corridor (e.g., Gangtok-Mangan or Dima Hasao)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Works with Low Hardware Cost: Uses cloud compute without requiring expensive localized physical IoT sensors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Strictly Realistic Claims: AI acts as decision-support platform, not an infallible oracle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371600"/>
            <a:ext cx="3474720" cy="4251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FUTURE HORIZONS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Drone Photogrammetry: Automated edge drone inspection along detected critical slope fractures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InSAR Radar Satellite: Millimeter-level ground subsidence tracking via Sentinel-1 interferometry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Emergency Services Integration: Direct API integration with 112 India, BRO, and District Emergency Centers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Regional Language Support: Multilingual audio alerts in Assamese, Bengali, Mizo, Khasi, Hindi, Nepali</a:t>
            </a:r>
          </a:p>
          <a:p>
            <a:pPr>
              <a:defRPr sz="880">
                <a:solidFill>
                  <a:srgbClr val="F8F9FA"/>
                </a:solidFill>
              </a:defRPr>
            </a:pPr>
            <a:r>
              <a:t>• Pan-Himalayan Expansion: Extension to Uttarakhand, Himachal Pradesh, and Jammu &amp; Kashmir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698480" cy="640080"/>
          </a:xfrm>
          <a:prstGeom prst="roundRect">
            <a:avLst/>
          </a:prstGeom>
          <a:solidFill>
            <a:srgbClr val="0F2A4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4FFDA"/>
                </a:solidFill>
              </a:defRPr>
            </a:pPr>
            <a:r>
              <a:t>LANDSIGHT AI:  “Predict Risk. Protect Lives. Connect Communities.”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