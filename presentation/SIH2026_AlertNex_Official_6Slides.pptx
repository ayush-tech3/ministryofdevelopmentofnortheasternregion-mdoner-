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6B00"/>
                </a:solidFill>
              </a:defRPr>
            </a:pPr>
            <a:r>
              <a:t>SMART INDIA HACKATHON 2026  •  COLLEGE INTERNAL EVALUATION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700">
                <a:solidFill>
                  <a:srgbClr val="0A192F"/>
                </a:solidFill>
              </a:defRPr>
            </a:pPr>
            <a:r>
              <a:t>AI-Based Early Warning &amp; Landslide Monitoring System</a:t>
            </a:r>
          </a:p>
          <a:p>
            <a:pPr>
              <a:defRPr b="1" sz="1700">
                <a:solidFill>
                  <a:srgbClr val="FF6B00"/>
                </a:solidFill>
              </a:defRPr>
            </a:pPr>
            <a:r>
              <a:t>for North Eastern Region (NER) of India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48840"/>
            <a:ext cx="3931920" cy="4160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82880"/>
          <a:lstStyle/>
          <a:p>
            <a:pPr algn="ctr">
              <a:defRPr b="1" sz="1200">
                <a:solidFill>
                  <a:srgbClr val="0A192F"/>
                </a:solidFill>
              </a:defRPr>
            </a:pPr>
            <a:r>
              <a:t>PROJECT SPECIFICATIONS</a:t>
            </a:r>
          </a:p>
          <a:p>
            <a:pPr>
              <a:defRPr b="1" sz="980">
                <a:solidFill>
                  <a:srgbClr val="0A192F"/>
                </a:solidFill>
              </a:defRPr>
            </a:pPr>
            <a:r>
              <a:t>Problem Statement ID: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SIH26001</a:t>
            </a:r>
          </a:p>
          <a:p>
            <a:pPr>
              <a:defRPr b="1" sz="980">
                <a:solidFill>
                  <a:srgbClr val="0A192F"/>
                </a:solidFill>
              </a:defRPr>
            </a:pPr>
            <a:r>
              <a:t>Theme: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Disaster Management</a:t>
            </a:r>
          </a:p>
          <a:p>
            <a:pPr>
              <a:defRPr b="1" sz="980">
                <a:solidFill>
                  <a:srgbClr val="0A192F"/>
                </a:solidFill>
              </a:defRPr>
            </a:pPr>
            <a:r>
              <a:t>Category: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Software Edition</a:t>
            </a:r>
          </a:p>
          <a:p>
            <a:pPr>
              <a:defRPr b="1" sz="980">
                <a:solidFill>
                  <a:srgbClr val="0A192F"/>
                </a:solidFill>
              </a:defRPr>
            </a:pPr>
            <a:r>
              <a:t>Ministry / Organization: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Ministry of Development of North Eastern Region (MDoNER)</a:t>
            </a:r>
          </a:p>
          <a:p>
            <a:pPr>
              <a:defRPr b="1" sz="980">
                <a:solidFill>
                  <a:srgbClr val="0A192F"/>
                </a:solidFill>
              </a:defRPr>
            </a:pPr>
            <a:r>
              <a:t>Team Name: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AlertNex</a:t>
            </a:r>
          </a:p>
          <a:p>
            <a:pPr>
              <a:defRPr b="1" sz="980">
                <a:solidFill>
                  <a:srgbClr val="0A192F"/>
                </a:solidFill>
              </a:defRPr>
            </a:pPr>
            <a:r>
              <a:t>Team Leader: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Ayush Kumar</a:t>
            </a:r>
          </a:p>
          <a:p>
            <a:pPr>
              <a:defRPr b="1" sz="980">
                <a:solidFill>
                  <a:srgbClr val="0A192F"/>
                </a:solidFill>
              </a:defRPr>
            </a:pPr>
            <a:r>
              <a:t>Core Focus: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Dynamic Risk + Connectivity Impact + Offline Ground Sync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2148840"/>
            <a:ext cx="6613855" cy="4160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defRPr b="1" sz="1200">
                <a:solidFill>
                  <a:srgbClr val="FF6B00"/>
                </a:solidFill>
              </a:defRPr>
            </a:pPr>
            <a:r>
              <a:t>TEAM ALERTSPEC PROFILE — ALL 6 MEMBERS</a:t>
            </a:r>
          </a:p>
          <a:p>
            <a:pPr>
              <a:defRPr b="1" sz="1000">
                <a:solidFill>
                  <a:srgbClr val="FF6B00"/>
                </a:solidFill>
              </a:defRPr>
            </a:pPr>
            <a:r>
              <a:t>1. Ayush Kumar </a:t>
            </a:r>
            <a:r>
              <a:rPr b="1" sz="950">
                <a:solidFill>
                  <a:srgbClr val="008A4B"/>
                </a:solidFill>
              </a:rPr>
              <a:t>|  Team Leader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Responsibilities: AI/ML, System Architecture, Overall Coordination</a:t>
            </a:r>
          </a:p>
          <a:p>
            <a:pPr>
              <a:defRPr b="1" sz="1000">
                <a:solidFill>
                  <a:srgbClr val="0A192F"/>
                </a:solidFill>
              </a:defRPr>
            </a:pPr>
            <a:r>
              <a:t>2. Prerana Mondal </a:t>
            </a:r>
            <a:r>
              <a:rPr b="1" sz="950">
                <a:solidFill>
                  <a:srgbClr val="0A192F"/>
                </a:solidFill>
              </a:rPr>
              <a:t>|  Team Member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Responsibilities: Frontend Development, UI/UX, Data Visualization</a:t>
            </a:r>
          </a:p>
          <a:p>
            <a:pPr>
              <a:defRPr b="1" sz="1000">
                <a:solidFill>
                  <a:srgbClr val="0A192F"/>
                </a:solidFill>
              </a:defRPr>
            </a:pPr>
            <a:r>
              <a:t>3. Sondeep Kumar </a:t>
            </a:r>
            <a:r>
              <a:rPr b="1" sz="950">
                <a:solidFill>
                  <a:srgbClr val="0A192F"/>
                </a:solidFill>
              </a:rPr>
              <a:t>|  Team Member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Responsibilities: Backend Development, Database, API Integration</a:t>
            </a:r>
          </a:p>
          <a:p>
            <a:pPr>
              <a:defRPr b="1" sz="1000">
                <a:solidFill>
                  <a:srgbClr val="0A192F"/>
                </a:solidFill>
              </a:defRPr>
            </a:pPr>
            <a:r>
              <a:t>4. Shinjini Lohar </a:t>
            </a:r>
            <a:r>
              <a:rPr b="1" sz="950">
                <a:solidFill>
                  <a:srgbClr val="0A192F"/>
                </a:solidFill>
              </a:rPr>
              <a:t>|  Team Member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Responsibilities: AI/ML, Computer Vision, Data Processing</a:t>
            </a:r>
          </a:p>
          <a:p>
            <a:pPr>
              <a:defRPr b="1" sz="1000">
                <a:solidFill>
                  <a:srgbClr val="0A192F"/>
                </a:solidFill>
              </a:defRPr>
            </a:pPr>
            <a:r>
              <a:t>5. Subham Kumar Modi </a:t>
            </a:r>
            <a:r>
              <a:rPr b="1" sz="950">
                <a:solidFill>
                  <a:srgbClr val="0A192F"/>
                </a:solidFill>
              </a:rPr>
              <a:t>|  Team Member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Responsibilities: GIS Analysis, Mobile Application, QA Testing</a:t>
            </a:r>
          </a:p>
          <a:p>
            <a:pPr>
              <a:defRPr b="1" sz="1000">
                <a:solidFill>
                  <a:srgbClr val="0A192F"/>
                </a:solidFill>
              </a:defRPr>
            </a:pPr>
            <a:r>
              <a:t>6. Rahul Deo </a:t>
            </a:r>
            <a:r>
              <a:rPr b="1" sz="950">
                <a:solidFill>
                  <a:srgbClr val="0A192F"/>
                </a:solidFill>
              </a:rPr>
              <a:t>|  Team Member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Responsibilities: Cloud Infrastructure, DevOps, Testing and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Team AlertNex | Smart India Hackathon 2026 | PS: SIH26001 | Disaster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589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0A192F"/>
                </a:solidFill>
              </a:defRPr>
            </a:pPr>
            <a: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F6B00"/>
                </a:solidFill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256032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000">
                <a:solidFill>
                  <a:srgbClr val="0A192F"/>
                </a:solidFill>
              </a:defRPr>
            </a:pPr>
            <a:r>
              <a:t>PS ID: SIH26001  |  MDoNER  |  Software Edition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A192F"/>
                </a:solidFill>
              </a:defRPr>
            </a:pPr>
            <a:r>
              <a:t>THE CHALLENGE: Vulnerabilities in North Eastern 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Team AlertNex | Smart India Hackathon 2026 | PS: SIH26001 | Disaster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589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0A192F"/>
                </a:solidFill>
              </a:defRPr>
            </a:pPr>
            <a:r>
              <a:t>Slide 2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10728655" cy="548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b="1" sz="1050">
                <a:solidFill>
                  <a:srgbClr val="EF4444"/>
                </a:solidFill>
              </a:defRPr>
            </a:pPr>
            <a:r>
              <a:t>PROBLEM SUMMARY: </a:t>
            </a:r>
            <a:r>
              <a:rPr b="0">
                <a:solidFill>
                  <a:srgbClr val="1E293B"/>
                </a:solidFill>
              </a:rPr>
              <a:t>The North Eastern Region faces extreme precipitation and complex topography, causing sudden landslides that block lifeline highways, isolate tribal hamlets, and cut hospital access with delayed and purely reactive responses.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65960"/>
            <a:ext cx="2542032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00">
                <a:solidFill>
                  <a:srgbClr val="EF4444"/>
                </a:solidFill>
              </a:defRPr>
            </a:pPr>
            <a:r>
              <a:t>Heavy Rainfall &amp; Slopes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Cloudbursts (&gt;150mm/day) oversaturate steep, fragile Himalayan terrain, causing sudden debris flows.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965960"/>
            <a:ext cx="2542032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00">
                <a:solidFill>
                  <a:srgbClr val="F97316"/>
                </a:solidFill>
              </a:defRPr>
            </a:pPr>
            <a:r>
              <a:t>Cut-off Lifeline Roads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Single arterial highways (NH-10, NH-29) suffer recurring collapses, paralyzing state logistics.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965960"/>
            <a:ext cx="2542032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00">
                <a:solidFill>
                  <a:srgbClr val="F59E0B"/>
                </a:solidFill>
              </a:defRPr>
            </a:pPr>
            <a:r>
              <a:t>Remote Village Isolation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Deep-valley communities become completely isolated with no accessible route to emergency hospitals.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1965960"/>
            <a:ext cx="2542032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00">
                <a:solidFill>
                  <a:srgbClr val="0A192F"/>
                </a:solidFill>
              </a:defRPr>
            </a:pPr>
            <a:r>
              <a:t>Zero Connectivity &amp; Lag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Severe storms knock out mobile towers; authorities receive ground reports hours or days too late.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60520"/>
            <a:ext cx="10728655" cy="20574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1150">
                <a:solidFill>
                  <a:srgbClr val="0A192F"/>
                </a:solidFill>
              </a:defRPr>
            </a:pPr>
            <a:r>
              <a:t>VISUAL PARADIGM SHIFT: REACTIVE TO PROACTIVE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572000"/>
            <a:ext cx="4846320" cy="1463040"/>
          </a:xfrm>
          <a:prstGeom prst="roundRect">
            <a:avLst/>
          </a:prstGeom>
          <a:solidFill>
            <a:srgbClr val="FFF5F5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b="1" sz="1100">
                <a:solidFill>
                  <a:srgbClr val="EF4444"/>
                </a:solidFill>
              </a:defRPr>
            </a:pPr>
            <a:r>
              <a:t>CURRENT APPROACH (REACTIVE)</a:t>
            </a:r>
          </a:p>
          <a:p>
            <a:pPr>
              <a:defRPr b="1" sz="1000">
                <a:solidFill>
                  <a:srgbClr val="0A192F"/>
                </a:solidFill>
              </a:defRPr>
            </a:pPr>
            <a:r>
              <a:t>Disaster Strikes  ➔  Detection  ➔  Delayed Response</a:t>
            </a:r>
          </a:p>
          <a:p>
            <a:pPr>
              <a:defRPr sz="880">
                <a:solidFill>
                  <a:srgbClr val="64748B"/>
                </a:solidFill>
              </a:defRPr>
            </a:pPr>
            <a:r>
              <a:t>• Unaware of road blocks until stranded  |  No alternative route planning  |  Heavy casualty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4937760" cy="14630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0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b="1" sz="1100">
                <a:solidFill>
                  <a:srgbClr val="008A4B"/>
                </a:solidFill>
              </a:defRPr>
            </a:pPr>
            <a:r>
              <a:t>OUR APPROACH (TEAM ALERTNEX PROACTIVE)</a:t>
            </a:r>
          </a:p>
          <a:p>
            <a:pPr>
              <a:defRPr b="1" sz="1000">
                <a:solidFill>
                  <a:srgbClr val="0A192F"/>
                </a:solidFill>
              </a:defRPr>
            </a:pPr>
            <a:r>
              <a:t>Monitoring  ➔  Early Warning  ➔  Preparation  ➔  Faster Response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6-12h pre-warning  |  Automated road blockage detection  |  Bypass routes active before collapse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F6B00"/>
                </a:solidFill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256032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000">
                <a:solidFill>
                  <a:srgbClr val="0A192F"/>
                </a:solidFill>
              </a:defRPr>
            </a:pPr>
            <a:r>
              <a:t>PS ID: SIH26001  |  MDoNER  |  Software Edition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A192F"/>
                </a:solidFill>
              </a:defRPr>
            </a:pPr>
            <a:r>
              <a:t>OUR PROPOSED SOLUTION: Intelligent Disaster Monitoring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Team AlertNex | Smart India Hackathon 2026 | PS: SIH26001 | Disaster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589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0A192F"/>
                </a:solidFill>
              </a:defRPr>
            </a:pPr>
            <a:r>
              <a:t>Slide 3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676656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b="1" sz="1200">
                <a:solidFill>
                  <a:srgbClr val="0A192F"/>
                </a:solidFill>
              </a:defRPr>
            </a:pPr>
            <a:r>
              <a:t>END-TO-END SOLUTION ECOSYSTEM FLOW</a:t>
            </a:r>
          </a:p>
          <a:p>
            <a:pPr>
              <a:defRPr b="1" sz="1019">
                <a:solidFill>
                  <a:srgbClr val="FF6B00"/>
                </a:solidFill>
              </a:defRPr>
            </a:pPr>
            <a:r>
              <a:t>▼  1. MULTI-SOURCE DATA INGESTION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Rainfall &amp; Weather Data (IMD/GPM) + Soil Moisture (NASA SMAP) + Terrain/Slope (SRTM 30m DEM) + Satellite Imagery + Historical Landslide Inventory + Citizen &amp; Field Reports</a:t>
            </a:r>
          </a:p>
          <a:p>
            <a:pPr>
              <a:defRPr b="1" sz="1019">
                <a:solidFill>
                  <a:srgbClr val="0A192F"/>
                </a:solidFill>
              </a:defRPr>
            </a:pPr>
            <a:r>
              <a:t>▼  2. AI RISK ENGINE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Machine learning ensemble analyzes multi-source environmental triggers, calculates slope stability index, and computes pixel-level susceptibility with Explainable AI factor weights.</a:t>
            </a:r>
          </a:p>
          <a:p>
            <a:pPr>
              <a:defRPr b="1" sz="1019">
                <a:solidFill>
                  <a:srgbClr val="008A4B"/>
                </a:solidFill>
              </a:defRPr>
            </a:pPr>
            <a:r>
              <a:t>▼  3. DYNAMIC LANDSLIDE RISK MAP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Interactive GIS visualization (Leaflet/Mapbox + PostGIS) rendering 30m resolution dynamic risk zones across vulnerable North Eastern transportation corridors.</a:t>
            </a:r>
          </a:p>
          <a:p>
            <a:pPr>
              <a:defRPr b="1" sz="1019">
                <a:solidFill>
                  <a:srgbClr val="EF4444"/>
                </a:solidFill>
              </a:defRPr>
            </a:pPr>
            <a:r>
              <a:t>▼  4. EARLY WARNING &amp; ACTIONABLE RESPONSE</a:t>
            </a:r>
          </a:p>
          <a:p>
            <a:pPr>
              <a:defRPr sz="900">
                <a:solidFill>
                  <a:srgbClr val="1E293B"/>
                </a:solidFill>
              </a:defRPr>
            </a:pPr>
            <a:r>
              <a:t>Proactive alerts to SDRF/DDMA, village isolation predictions, automated emergency route suggestions, and offline mobile citizen guidance.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280160"/>
            <a:ext cx="3687775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b="1" sz="1200">
                <a:solidFill>
                  <a:srgbClr val="0A192F"/>
                </a:solidFill>
              </a:defRPr>
            </a:pPr>
            <a:r>
              <a:t>DYNAMIC RISK LEVELS</a:t>
            </a:r>
          </a:p>
          <a:p>
            <a:pPr>
              <a:defRPr b="1" sz="1000">
                <a:solidFill>
                  <a:srgbClr val="10B981"/>
                </a:solidFill>
              </a:defRPr>
            </a:pPr>
            <a:r>
              <a:t>■  GREEN: LOW RISK (0 - 30%)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Normal terrain stability. Routine satellite and weather polling. Regular traffic on mountain highways.</a:t>
            </a:r>
          </a:p>
          <a:p>
            <a:pPr>
              <a:defRPr b="1" sz="1000">
                <a:solidFill>
                  <a:srgbClr val="F59E0B"/>
                </a:solidFill>
              </a:defRPr>
            </a:pPr>
            <a:r>
              <a:t>■  YELLOW: MODERATE RISK (31 - 60%)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Elevated moisture saturation or continuous rainfall. Advisory issued to highway patrols; field officers alerted to monitor slopes.</a:t>
            </a:r>
          </a:p>
          <a:p>
            <a:pPr>
              <a:defRPr b="1" sz="1000">
                <a:solidFill>
                  <a:srgbClr val="F97316"/>
                </a:solidFill>
              </a:defRPr>
            </a:pPr>
            <a:r>
              <a:t>■  ORANGE: HIGH RISK (61 - 80%)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Heavy precipitation + steep slope trigger. Pre-warning alerts to transport authorities; heavy freight restricted; alternative routes prepared.</a:t>
            </a:r>
          </a:p>
          <a:p>
            <a:pPr>
              <a:defRPr b="1" sz="1000">
                <a:solidFill>
                  <a:srgbClr val="EF4444"/>
                </a:solidFill>
              </a:defRPr>
            </a:pPr>
            <a:r>
              <a:t>■  RED: CRITICAL RISK (81 - 100%)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Imminent landslide danger. Instant Siren/SMS push to citizens, bypass emergency corridors activated, SDRF/NDRF teams pre-deployed.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F6B00"/>
                </a:solidFill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256032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000">
                <a:solidFill>
                  <a:srgbClr val="0A192F"/>
                </a:solidFill>
              </a:defRPr>
            </a:pPr>
            <a:r>
              <a:t>PS ID: SIH26001  |  MDoNER  |  Software Edition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A192F"/>
                </a:solidFill>
              </a:defRPr>
            </a:pPr>
            <a:r>
              <a:t>KEY INNOVATIONS: Why Team AlertNex Solution is Different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Team AlertNex | Smart India Hackathon 2026 | PS: SIH26001 | Disaster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589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0A192F"/>
                </a:solidFill>
              </a:defRPr>
            </a:pPr>
            <a:r>
              <a:t>Slide 4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5242255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1100">
                <a:solidFill>
                  <a:srgbClr val="0A192F"/>
                </a:solidFill>
              </a:defRPr>
            </a:pPr>
            <a:r>
              <a:t>CARD 1: MULTI-SOURCE AI RISK ANALYSIS</a:t>
            </a:r>
          </a:p>
          <a:p>
            <a:pPr>
              <a:defRPr i="1" sz="950">
                <a:solidFill>
                  <a:srgbClr val="0A192F"/>
                </a:solidFill>
              </a:defRPr>
            </a:pPr>
            <a:r>
              <a:t>Combines Environmental &amp; Ground-Level Information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Integrates static terrain data (slope, aspect, elevation) with dynamic live data (rainfall, soil saturation).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Fuses satellite imagery with real-time crowdsourced citizen observations.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Machine learning ensemble reduces false alarms and avoids alert fatigue.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42255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1100">
                <a:solidFill>
                  <a:srgbClr val="FF6B00"/>
                </a:solidFill>
              </a:defRPr>
            </a:pPr>
            <a:r>
              <a:t>CARD 2: CONNECTIVITY IMPACT ANALYSIS</a:t>
            </a:r>
          </a:p>
          <a:p>
            <a:pPr>
              <a:defRPr i="1" sz="950">
                <a:solidFill>
                  <a:srgbClr val="0A192F"/>
                </a:solidFill>
              </a:defRPr>
            </a:pPr>
            <a:r>
              <a:t>The Core Innovation: Answering 'What Gets Cut Off?'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Road Blockage Analysis: Identifies exact highway segments threatened by impending slides.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Village Isolation Analysis: Determines which remote hill villages lose vehicular access.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Hospital Accessibility: Analyzes cut-off primary health centers and critical facilities.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Alternative Routes: Autonomous graph routing calculates safe bypass emergency corridors.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86200"/>
            <a:ext cx="5242255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1100">
                <a:solidFill>
                  <a:srgbClr val="008A4B"/>
                </a:solidFill>
              </a:defRPr>
            </a:pPr>
            <a:r>
              <a:t>CARD 3: OFFLINE COMMUNITY REPORTING</a:t>
            </a:r>
          </a:p>
          <a:p>
            <a:pPr>
              <a:defRPr i="1" sz="950">
                <a:solidFill>
                  <a:srgbClr val="0A192F"/>
                </a:solidFill>
              </a:defRPr>
            </a:pPr>
            <a:r>
              <a:t>Ground Intelligence in Zero-Internet Mountain Zones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Mobile application functions fully offline in remote zero-connectivity valleys.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Citizens and field officers capture geotagged photos, cracks, and blocked roads.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Reports are securely stored in local SQLite database on the mobile device.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Automatically synchronizes with central server as soon as connection is restored.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86200"/>
            <a:ext cx="5242255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ctr">
              <a:defRPr b="1" sz="1100">
                <a:solidFill>
                  <a:srgbClr val="EF4444"/>
                </a:solidFill>
              </a:defRPr>
            </a:pPr>
            <a:r>
              <a:t>CARD 4: EXPLAINABLE AI (XAI)</a:t>
            </a:r>
          </a:p>
          <a:p>
            <a:pPr>
              <a:defRPr i="1" sz="950">
                <a:solidFill>
                  <a:srgbClr val="0A192F"/>
                </a:solidFill>
              </a:defRPr>
            </a:pPr>
            <a:r>
              <a:t>Transparent Reasoning for Disaster Management Authorities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Explains WHY the risk is high rather than presenting an uninterpretable score.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Concrete Factor Breakdown for Critical Alert (87%):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  • Heavy Rainfall (24-hour accumulation): 42% contribution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  • High Soil Moisture Saturation: 21% contribution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  • Steep Terrain Gradient (&gt;48°): 15% contribution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  • Recent Citizen Crack Reports: 9% contribution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F6B00"/>
                </a:solidFill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256032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000">
                <a:solidFill>
                  <a:srgbClr val="0A192F"/>
                </a:solidFill>
              </a:defRPr>
            </a:pPr>
            <a:r>
              <a:t>PS ID: SIH26001  |  MDoNER  |  Software Edition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A192F"/>
                </a:solidFill>
              </a:defRPr>
            </a:pPr>
            <a:r>
              <a:t>SYSTEM ARCHITECTURE: 4-Tier Flow &amp; Technology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Team AlertNex | Smart India Hackathon 2026 | PS: SIH26001 | Disaster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589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0A192F"/>
                </a:solidFill>
              </a:defRPr>
            </a:pPr>
            <a:r>
              <a:t>Slide 5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10728655" cy="914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b="1" sz="1100">
                <a:solidFill>
                  <a:srgbClr val="FF6B00"/>
                </a:solidFill>
              </a:defRPr>
            </a:pPr>
            <a:r>
              <a:t>LAYER 1: DATA COLLECTION</a:t>
            </a:r>
          </a:p>
          <a:p>
            <a:pPr>
              <a:defRPr sz="919">
                <a:solidFill>
                  <a:srgbClr val="1E293B"/>
                </a:solidFill>
              </a:defRPr>
            </a:pPr>
            <a:r>
              <a:t>Weather &amp; Rainfall (IMD API, GPM) • Soil Moisture (NASA SMAP) • Terrain &amp; Elevation (SRTM 30m DEM) • Satellite Data (Sentinel-2) • Citizen &amp; Field Officer Reports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31720"/>
            <a:ext cx="10728655" cy="914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b="1" sz="1100">
                <a:solidFill>
                  <a:srgbClr val="0A192F"/>
                </a:solidFill>
              </a:defRPr>
            </a:pPr>
            <a:r>
              <a:t>LAYER 2: AI AND ANALYTICS ENGINE</a:t>
            </a:r>
          </a:p>
          <a:p>
            <a:pPr>
              <a:defRPr sz="919">
                <a:solidFill>
                  <a:srgbClr val="1E293B"/>
                </a:solidFill>
              </a:defRPr>
            </a:pPr>
            <a:r>
              <a:t>Data Processing (Pandas, NumPy) • Machine Learning Risk Analysis (Scikit-learn, XGBoost) • Explainable AI Module (SHAP Factor Breakdown)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79"/>
            <a:ext cx="10728655" cy="914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b="1" sz="1100">
                <a:solidFill>
                  <a:srgbClr val="008A4B"/>
                </a:solidFill>
              </a:defRPr>
            </a:pPr>
            <a:r>
              <a:t>LAYER 3: GIS AND IMPACT ANALYSIS</a:t>
            </a:r>
          </a:p>
          <a:p>
            <a:pPr>
              <a:defRPr sz="919">
                <a:solidFill>
                  <a:srgbClr val="1E293B"/>
                </a:solidFill>
              </a:defRPr>
            </a:pPr>
            <a:r>
              <a:t>PostgreSQL + PostGIS Spatial Geodatabase • Dynamic Risk Mapping • Road Blockage Analysis • Village Isolation Detection • Emergency Alternative Routes (Dijkstra)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34840"/>
            <a:ext cx="10728655" cy="914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b="1" sz="1100">
                <a:solidFill>
                  <a:srgbClr val="EF4444"/>
                </a:solidFill>
              </a:defRPr>
            </a:pPr>
            <a:r>
              <a:t>LAYER 4: OUTPUT &amp; ACTION</a:t>
            </a:r>
          </a:p>
          <a:p>
            <a:pPr>
              <a:defRPr sz="919">
                <a:solidFill>
                  <a:srgbClr val="1E293B"/>
                </a:solidFill>
              </a:defRPr>
            </a:pPr>
            <a:r>
              <a:t>Authority Command Dashboard (React.js + Leaflet/Mapbox) • Mobile Application (Flutter + SQLite) • Early Warning Alerts (Firebase Push &amp; SMS)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32120"/>
            <a:ext cx="10728655" cy="804672"/>
          </a:xfrm>
          <a:prstGeom prst="roundRect">
            <a:avLst/>
          </a:prstGeom>
          <a:solidFill>
            <a:srgbClr val="0A192F"/>
          </a:solidFill>
          <a:ln w="1270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73152"/>
          <a:lstStyle/>
          <a:p>
            <a:pPr algn="ctr">
              <a:defRPr b="1" sz="1000">
                <a:solidFill>
                  <a:srgbClr val="64FFDA"/>
                </a:solidFill>
              </a:defRPr>
            </a:pPr>
            <a:r>
              <a:t>PURPOSE-BUILT TECHNOLOGY STACK:</a:t>
            </a:r>
          </a:p>
          <a:p>
            <a:pPr>
              <a:defRPr sz="919">
                <a:solidFill>
                  <a:srgbClr val="FFFFFF"/>
                </a:solidFill>
              </a:defRPr>
            </a:pPr>
            <a:r>
              <a:t>React.js (Dashboard)  •  Flutter (Mobile)  •  Python + FastAPI (Backend)  •  Scikit-learn (AI/ML)  •  PostgreSQL + PostGIS (Spatial DB)  •  Leaflet (GIS Mapping)  •  SQLite (Offline Mobile DB)  •  Firebase (Cloud Alerts)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FF6B00"/>
                </a:solidFill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256032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000">
                <a:solidFill>
                  <a:srgbClr val="0A192F"/>
                </a:solidFill>
              </a:defRPr>
            </a:pPr>
            <a:r>
              <a:t>PS ID: SIH26001  |  MDoNER  |  Software Edition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13232"/>
            <a:ext cx="107286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0A192F"/>
                </a:solidFill>
              </a:defRPr>
            </a:pPr>
            <a:r>
              <a:t>IMPACT, FEASIBILITY &amp; FUTURE: The AlertNex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Team AlertNex | Smart India Hackathon 2026 | PS: SIH26001 | Disaster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85897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950">
                <a:solidFill>
                  <a:srgbClr val="0A192F"/>
                </a:solidFill>
              </a:defRPr>
            </a:pPr>
            <a:r>
              <a:t>Slide 6 of 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80160"/>
            <a:ext cx="3474720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50">
                <a:solidFill>
                  <a:srgbClr val="008A4B"/>
                </a:solidFill>
              </a:defRPr>
            </a:pPr>
            <a:r>
              <a:t>EXPECTED IMPACT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Earlier disaster preparedness with 6-12 hour warning windows.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Faster emergency response and rescue mobilization for SDRF &amp; BRO.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Better protection for vulnerable remote tribal hill communities.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Reduced village isolation through proactive road clearing.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Improved data-driven decision-making for district magistrates.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Better infrastructure planning and reduced recurring economic losses.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474720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50">
                <a:solidFill>
                  <a:srgbClr val="0A192F"/>
                </a:solidFill>
              </a:defRPr>
            </a:pPr>
            <a:r>
              <a:t>FEASIBILITY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Uses open environmental and geographical data (IMD, NASA, SRTM).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Can start with selected high-risk pilot areas (e.g. Sikkim or Assam).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Modular system architecture ensures seamless independent progress.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Realistic student-level prototype deployable on cloud free-tiers.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Uses reliable open-source technologies (FastAPI, PostGIS, Flutter).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Operates without requiring crores in expensive physical hardware sensors.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280160"/>
            <a:ext cx="3474720" cy="4206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>
              <a:defRPr b="1" sz="1150">
                <a:solidFill>
                  <a:srgbClr val="FF6B00"/>
                </a:solidFill>
              </a:defRPr>
            </a:pPr>
            <a:r>
              <a:t>FUTURE SCOPE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Drone monitoring for automated aerial slope crack verification.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Advanced satellite radar (InSAR) monitoring for millimeter ground movement.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Regional language support (Assamese, Bengali, Nepali, Mizo, Khasi).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Emergency service integration directly with 112 India and BRO Swastik.</a:t>
            </a:r>
          </a:p>
          <a:p>
            <a:pPr>
              <a:defRPr sz="880">
                <a:solidFill>
                  <a:srgbClr val="1E293B"/>
                </a:solidFill>
              </a:defRPr>
            </a:pPr>
            <a:r>
              <a:t>• Expansion to other Himalayan regions (Uttarakhand, Himachal Pradesh).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10728655" cy="685800"/>
          </a:xfrm>
          <a:prstGeom prst="roundRect">
            <a:avLst/>
          </a:prstGeom>
          <a:solidFill>
            <a:srgbClr val="0A192F"/>
          </a:solidFill>
          <a:ln w="1905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TEAM ALERTNEX  •  AI-POWERED EARLY WARNING FOR SAFER COMMUNITIES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