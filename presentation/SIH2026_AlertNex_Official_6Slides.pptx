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slide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685800"/>
            <a:ext cx="8046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1B365D"/>
                </a:solidFill>
              </a:defRPr>
            </a:pPr>
            <a:r>
              <a:t>SMART INDIA HACKATHON 2026</a:t>
            </a:r>
          </a:p>
          <a:p>
            <a:pPr>
              <a:defRPr b="1" sz="1800">
                <a:solidFill>
                  <a:srgbClr val="1E293B"/>
                </a:solidFill>
              </a:defRPr>
            </a:pPr>
            <a:r>
              <a:t>AI-Based Early Warning &amp; Landslide Monitoring System</a:t>
            </a:r>
          </a:p>
          <a:p>
            <a:pPr>
              <a:defRPr b="1" sz="1300">
                <a:solidFill>
                  <a:srgbClr val="E65100"/>
                </a:solidFill>
              </a:defRPr>
            </a:pPr>
            <a:r>
              <a:t>for North Eastern Region (NER) of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65960"/>
            <a:ext cx="6949440" cy="214884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1B365D"/>
                </a:solidFill>
              </a:defRPr>
            </a:pPr>
            <a:r>
              <a:t>•  Problem Statement ID - </a:t>
            </a:r>
            <a:r>
              <a:rPr b="1" sz="1000">
                <a:solidFill>
                  <a:srgbClr val="1E293B"/>
                </a:solidFill>
              </a:rPr>
              <a:t>SIH26001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•  Problem Statement Title - </a:t>
            </a:r>
            <a:r>
              <a:rPr b="0" sz="1000">
                <a:solidFill>
                  <a:srgbClr val="1E293B"/>
                </a:solidFill>
              </a:rPr>
              <a:t>AI-Based Early Warning and Landslide Monitoring System in NER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•  Theme - </a:t>
            </a:r>
            <a:r>
              <a:rPr b="0" sz="1000">
                <a:solidFill>
                  <a:srgbClr val="1E293B"/>
                </a:solidFill>
              </a:rPr>
              <a:t>Disaster Management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•  PS Category - </a:t>
            </a:r>
            <a:r>
              <a:rPr b="0" sz="1000">
                <a:solidFill>
                  <a:srgbClr val="1E293B"/>
                </a:solidFill>
              </a:rPr>
              <a:t>Software Edition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•  Organization - </a:t>
            </a:r>
            <a:r>
              <a:rPr b="0" sz="1000">
                <a:solidFill>
                  <a:srgbClr val="1E293B"/>
                </a:solidFill>
              </a:rPr>
              <a:t>Ministry of Development of North Eastern Region (MDoNER)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•  Team Name - </a:t>
            </a:r>
            <a:r>
              <a:rPr b="1" sz="1000">
                <a:solidFill>
                  <a:srgbClr val="E65100"/>
                </a:solidFill>
              </a:rPr>
              <a:t>AlertNex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•  Team Leader - </a:t>
            </a:r>
            <a:r>
              <a:rPr b="1" sz="1000">
                <a:solidFill>
                  <a:srgbClr val="E65100"/>
                </a:solidFill>
              </a:rPr>
              <a:t>Ayush Kumar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6949440" cy="2103120"/>
          </a:xfrm>
          <a:prstGeom prst="roundRect">
            <a:avLst/>
          </a:prstGeom>
          <a:solidFill>
            <a:srgbClr val="FA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050">
                <a:solidFill>
                  <a:srgbClr val="E65100"/>
                </a:solidFill>
              </a:defRPr>
            </a:pPr>
            <a:r>
              <a:t>TEAM ALERTSPEC ROSTER (ALL 6 MEMBERS)</a:t>
            </a:r>
          </a:p>
          <a:p>
            <a:pPr>
              <a:defRPr b="1" sz="880">
                <a:solidFill>
                  <a:srgbClr val="E65100"/>
                </a:solidFill>
              </a:defRPr>
            </a:pPr>
            <a:r>
              <a:t>1. Ayush Kumar  [Team Leader]: </a:t>
            </a:r>
            <a:r>
              <a:rPr sz="850">
                <a:solidFill>
                  <a:srgbClr val="1E293B"/>
                </a:solidFill>
              </a:rPr>
              <a:t>AI/ML, System Architecture, Overall Coordination</a:t>
            </a:r>
          </a:p>
          <a:p>
            <a:pPr>
              <a:defRPr b="1" sz="880">
                <a:solidFill>
                  <a:srgbClr val="1B365D"/>
                </a:solidFill>
              </a:defRPr>
            </a:pPr>
            <a:r>
              <a:t>2. Prerana Mondal  [Member]: </a:t>
            </a:r>
            <a:r>
              <a:rPr sz="850">
                <a:solidFill>
                  <a:srgbClr val="1E293B"/>
                </a:solidFill>
              </a:rPr>
              <a:t>Frontend Development, UI/UX, Data Visualization</a:t>
            </a:r>
          </a:p>
          <a:p>
            <a:pPr>
              <a:defRPr b="1" sz="880">
                <a:solidFill>
                  <a:srgbClr val="1B365D"/>
                </a:solidFill>
              </a:defRPr>
            </a:pPr>
            <a:r>
              <a:t>3. Sondeep Kumar  [Member]: </a:t>
            </a:r>
            <a:r>
              <a:rPr sz="850">
                <a:solidFill>
                  <a:srgbClr val="1E293B"/>
                </a:solidFill>
              </a:rPr>
              <a:t>Backend Development, Database, API Integration</a:t>
            </a:r>
          </a:p>
          <a:p>
            <a:pPr>
              <a:defRPr b="1" sz="880">
                <a:solidFill>
                  <a:srgbClr val="1B365D"/>
                </a:solidFill>
              </a:defRPr>
            </a:pPr>
            <a:r>
              <a:t>4. Shinjini Lohar  [Member]: </a:t>
            </a:r>
            <a:r>
              <a:rPr sz="850">
                <a:solidFill>
                  <a:srgbClr val="1E293B"/>
                </a:solidFill>
              </a:rPr>
              <a:t>AI/ML, Computer Vision, Data Processing</a:t>
            </a:r>
          </a:p>
          <a:p>
            <a:pPr>
              <a:defRPr b="1" sz="880">
                <a:solidFill>
                  <a:srgbClr val="1B365D"/>
                </a:solidFill>
              </a:defRPr>
            </a:pPr>
            <a:r>
              <a:t>5. Subham Kumar Modi  [Member]: </a:t>
            </a:r>
            <a:r>
              <a:rPr sz="850">
                <a:solidFill>
                  <a:srgbClr val="1E293B"/>
                </a:solidFill>
              </a:rPr>
              <a:t>GIS Analysis, Mobile Application, QA Testing</a:t>
            </a:r>
          </a:p>
          <a:p>
            <a:pPr>
              <a:defRPr b="1" sz="880">
                <a:solidFill>
                  <a:srgbClr val="1B365D"/>
                </a:solidFill>
              </a:defRPr>
            </a:pPr>
            <a:r>
              <a:t>6. Rahul Deo  [Member]: </a:t>
            </a:r>
            <a:r>
              <a:rPr sz="850">
                <a:solidFill>
                  <a:srgbClr val="1E293B"/>
                </a:solidFill>
              </a:rPr>
              <a:t>Cloud Infrastructure, DevOps, Testing &amp;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000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365D"/>
                </a:solidFill>
              </a:defRPr>
            </a:pPr>
            <a:r>
              <a:t>THE CHALLENGE: Critical Vulnerabilities in North Eastern 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Slide 2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50292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b="1" sz="1000">
                <a:solidFill>
                  <a:srgbClr val="EF4444"/>
                </a:solidFill>
              </a:defRPr>
            </a:pPr>
            <a:r>
              <a:t>PROBLEM SUMMARY: </a:t>
            </a:r>
            <a:r>
              <a:rPr sz="950">
                <a:solidFill>
                  <a:srgbClr val="1E293B"/>
                </a:solidFill>
              </a:rPr>
              <a:t>The North Eastern Region faces extreme precipitation and complex topography, causing sudden landslides that block lifeline highways, isolate tribal hamlets, and cut hospital access with delayed and purely reactive responses.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EF4444"/>
                </a:solidFill>
              </a:defRPr>
            </a:pPr>
            <a:r>
              <a:t>Heavy Rainfall &amp; Slopes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Cloudbursts (&gt;150mm/day) oversaturate steep, fragile Himalayan terrain, causing sudden debris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F97316"/>
                </a:solidFill>
              </a:defRPr>
            </a:pPr>
            <a:r>
              <a:t>Cut-off Lifeline Roads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Single arterial highways (NH-10, NH-29) suffer recurring collapses, paralyzing state logistics.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F59E0B"/>
                </a:solidFill>
              </a:defRPr>
            </a:pPr>
            <a:r>
              <a:t>Remote Village Isolation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Deep-valley communities become completely isolated with no accessible route to emergency hospitals.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74519"/>
            <a:ext cx="2542032" cy="2057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Zero Connectivity &amp; Lag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Severe storms knock out cell towers; authorities receive ground reports hours or days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728655" cy="2148840"/>
          </a:xfrm>
          <a:prstGeom prst="roundRect">
            <a:avLst/>
          </a:prstGeom>
          <a:solidFill>
            <a:srgbClr val="FA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150">
                <a:solidFill>
                  <a:srgbClr val="1B365D"/>
                </a:solidFill>
              </a:defRPr>
            </a:pPr>
            <a:r>
              <a:t>VISUAL PARADIGM SHIFT: REACTIVE TO PROACTIVE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526280"/>
            <a:ext cx="4846320" cy="1554480"/>
          </a:xfrm>
          <a:prstGeom prst="roundRect">
            <a:avLst/>
          </a:prstGeom>
          <a:solidFill>
            <a:srgbClr val="FFF5F5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1100">
                <a:solidFill>
                  <a:srgbClr val="EF4444"/>
                </a:solidFill>
              </a:defRPr>
            </a:pPr>
            <a:r>
              <a:t>CURRENT APPROACH (REACTIVE)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Disaster Strikes  ➔  Detection  ➔  Delayed Response</a:t>
            </a:r>
          </a:p>
          <a:p>
            <a:pPr>
              <a:defRPr sz="880">
                <a:solidFill>
                  <a:srgbClr val="64748B"/>
                </a:solidFill>
              </a:defRPr>
            </a:pPr>
            <a:r>
              <a:t>• Unaware of road blocks until stranded  |  No alternative route planning  |  Heavy casualty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26280"/>
            <a:ext cx="4937760" cy="155448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b="1" sz="1100">
                <a:solidFill>
                  <a:srgbClr val="008A4B"/>
                </a:solidFill>
              </a:defRPr>
            </a:pPr>
            <a:r>
              <a:t>OUR APPROACH (TEAM ALERTNEX PROACTIVE)</a:t>
            </a:r>
          </a:p>
          <a:p>
            <a:pPr>
              <a:defRPr b="1" sz="1000">
                <a:solidFill>
                  <a:srgbClr val="1B365D"/>
                </a:solidFill>
              </a:defRPr>
            </a:pPr>
            <a:r>
              <a:t>Monitoring  ➔  Early Warning  ➔  Preparation  ➔  Faster Response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6-12h pre-warning  |  Automated road blockage detection  |  Bypass routes active before collapse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000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365D"/>
                </a:solidFill>
              </a:defRPr>
            </a:pPr>
            <a:r>
              <a:t>OUR PROPOSED SOLUTION: Intelligent Disaster Monitoring 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Slide 3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6766560" cy="5029200"/>
          </a:xfrm>
          <a:prstGeom prst="roundRect">
            <a:avLst/>
          </a:prstGeom>
          <a:solidFill>
            <a:srgbClr val="FA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END-TO-END SOLUTION ECOSYSTEM FLOW</a:t>
            </a:r>
          </a:p>
          <a:p>
            <a:pPr>
              <a:defRPr b="1" sz="1019">
                <a:solidFill>
                  <a:srgbClr val="E65100"/>
                </a:solidFill>
              </a:defRPr>
            </a:pPr>
            <a:r>
              <a:t>▼  1. MULTI-SOURCE DATA INGESTION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Rainfall &amp; Weather Data (IMD/GPM) + Soil Moisture (NASA SMAP) + Terrain/Slope (SRTM 30m DEM) + Satellite Imagery + Historical Landslide Inventory + Citizen &amp; Field Reports</a:t>
            </a:r>
          </a:p>
          <a:p>
            <a:pPr>
              <a:defRPr b="1" sz="1019">
                <a:solidFill>
                  <a:srgbClr val="1B365D"/>
                </a:solidFill>
              </a:defRPr>
            </a:pPr>
            <a:r>
              <a:t>▼  2. AI RISK ENGINE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Machine learning ensemble analyzes multi-source environmental triggers, calculates slope stability index, and computes pixel-level susceptibility with Explainable AI factor weights.</a:t>
            </a:r>
          </a:p>
          <a:p>
            <a:pPr>
              <a:defRPr b="1" sz="1019">
                <a:solidFill>
                  <a:srgbClr val="008A4B"/>
                </a:solidFill>
              </a:defRPr>
            </a:pPr>
            <a:r>
              <a:t>▼  3. DYNAMIC LANDSLIDE RISK MAP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Interactive GIS visualization (Leaflet/Mapbox + PostGIS) rendering 30m resolution dynamic risk zones across vulnerable North Eastern transportation corridors.</a:t>
            </a:r>
          </a:p>
          <a:p>
            <a:pPr>
              <a:defRPr b="1" sz="1019">
                <a:solidFill>
                  <a:srgbClr val="EF4444"/>
                </a:solidFill>
              </a:defRPr>
            </a:pPr>
            <a:r>
              <a:t>▼  4. EARLY WARNING &amp; ACTIONABLE RESPONSE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Proactive alerts to SDRF/DDMA, village isolation predictions, automated emergency route suggestions, and offline mobile citizen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234440"/>
            <a:ext cx="3687775" cy="5029200"/>
          </a:xfrm>
          <a:prstGeom prst="roundRect">
            <a:avLst/>
          </a:prstGeom>
          <a:solidFill>
            <a:srgbClr val="FA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200">
                <a:solidFill>
                  <a:srgbClr val="1B365D"/>
                </a:solidFill>
              </a:defRPr>
            </a:pPr>
            <a:r>
              <a:t>DYNAMIC RISK LEVELS</a:t>
            </a:r>
          </a:p>
          <a:p>
            <a:pPr>
              <a:defRPr b="1" sz="1000">
                <a:solidFill>
                  <a:srgbClr val="10B981"/>
                </a:solidFill>
              </a:defRPr>
            </a:pPr>
            <a:r>
              <a:t>■  GREEN: LOW RISK (0 - 30%)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Normal terrain stability. Routine satellite and weather polling. Regular traffic on mountain highways.</a:t>
            </a:r>
          </a:p>
          <a:p>
            <a:pPr>
              <a:defRPr b="1" sz="1000">
                <a:solidFill>
                  <a:srgbClr val="F59E0B"/>
                </a:solidFill>
              </a:defRPr>
            </a:pPr>
            <a:r>
              <a:t>■  YELLOW: MODERATE RISK (31 - 60%)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Elevated moisture saturation or continuous rainfall. Advisory issued to highway patrols; field officers alerted to monitor slopes.</a:t>
            </a:r>
          </a:p>
          <a:p>
            <a:pPr>
              <a:defRPr b="1" sz="1000">
                <a:solidFill>
                  <a:srgbClr val="F97316"/>
                </a:solidFill>
              </a:defRPr>
            </a:pPr>
            <a:r>
              <a:t>■  ORANGE: HIGH RISK (61 - 80%)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Heavy precipitation + steep slope trigger. Pre-warning alerts to transport authorities; heavy freight restricted; alternative routes prepared.</a:t>
            </a:r>
          </a:p>
          <a:p>
            <a:pPr>
              <a:defRPr b="1" sz="1000">
                <a:solidFill>
                  <a:srgbClr val="EF4444"/>
                </a:solidFill>
              </a:defRPr>
            </a:pPr>
            <a:r>
              <a:t>■  RED: CRITICAL RISK (81 - 100%)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Imminent landslide danger. Instant Siren/SMS push to citizens, bypass emergency corridors activated, SDRF/NDRF teams pre-deployed.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000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365D"/>
                </a:solidFill>
              </a:defRPr>
            </a:pPr>
            <a:r>
              <a:t>KEY INNOVATIONS: Why Team AlertNex Solution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Slide 4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CARD 1: MULTI-SOURCE AI RISK ANALYSIS</a:t>
            </a:r>
          </a:p>
          <a:p>
            <a:pPr>
              <a:defRPr i="1" sz="950">
                <a:solidFill>
                  <a:srgbClr val="1B365D"/>
                </a:solidFill>
              </a:defRPr>
            </a:pPr>
            <a:r>
              <a:t>Combines Environmental &amp; Ground-Level Information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Integrates static terrain data (slope, aspect, elevation) with dynamic live data (rainfall, soil saturation).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Fuses satellite imagery with real-time crowdsourced citizen observations.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Machine learning ensemble reduces false alarms and avoids alert fatigue.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100">
                <a:solidFill>
                  <a:srgbClr val="E65100"/>
                </a:solidFill>
              </a:defRPr>
            </a:pPr>
            <a:r>
              <a:t>CARD 2: CONNECTIVITY IMPACT ANALYSIS</a:t>
            </a:r>
          </a:p>
          <a:p>
            <a:pPr>
              <a:defRPr i="1" sz="950">
                <a:solidFill>
                  <a:srgbClr val="1B365D"/>
                </a:solidFill>
              </a:defRPr>
            </a:pPr>
            <a:r>
              <a:t>The Core Innovation: Answering 'What Gets Cut Off?'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Road Blockage Analysis: Identifies exact highway segments threatened by impending slides.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Village Isolation Analysis: Determines which remote hill villages lose vehicular access.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Hospital Accessibility: Analyzes cut-off primary health centers and critical facilities.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Alternative Routes: Autonomous graph routing calculates safe bypass emergency corridors.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100">
                <a:solidFill>
                  <a:srgbClr val="008A4B"/>
                </a:solidFill>
              </a:defRPr>
            </a:pPr>
            <a:r>
              <a:t>CARD 3: OFFLINE COMMUNITY REPORTING</a:t>
            </a:r>
          </a:p>
          <a:p>
            <a:pPr>
              <a:defRPr i="1" sz="950">
                <a:solidFill>
                  <a:srgbClr val="1B365D"/>
                </a:solidFill>
              </a:defRPr>
            </a:pPr>
            <a:r>
              <a:t>Ground Intelligence in Zero-Internet Mountain Zones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Mobile application functions fully offline in remote zero-connectivity valleys.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Citizens and field officers capture geotagged photos, cracks, and blocked roads.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Reports are securely stored in local SQLite database on the mobile device.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Automatically synchronizes with central server as soon as connection is restored.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242255" cy="2450592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100">
                <a:solidFill>
                  <a:srgbClr val="EF4444"/>
                </a:solidFill>
              </a:defRPr>
            </a:pPr>
            <a:r>
              <a:t>CARD 4: EXPLAINABLE AI (XAI)</a:t>
            </a:r>
          </a:p>
          <a:p>
            <a:pPr>
              <a:defRPr i="1" sz="950">
                <a:solidFill>
                  <a:srgbClr val="1B365D"/>
                </a:solidFill>
              </a:defRPr>
            </a:pPr>
            <a:r>
              <a:t>Transparent Reasoning for Disaster Management Authorities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Explains WHY the risk is high rather than presenting an uninterpretable score.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Concrete Factor Breakdown for Critical Alert (87%):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Heavy Rainfall (24-hour accumulation): 42% contribution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High Soil Moisture Saturation: 21% contribution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Steep Terrain Gradient (&gt;48°): 15% contribution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  • Recent Citizen Crack Reports: 9% contribution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000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365D"/>
                </a:solidFill>
              </a:defRPr>
            </a:pPr>
            <a:r>
              <a:t>SYSTEM ARCHITECTURE: 4-Tier Flow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Slide 5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100">
                <a:solidFill>
                  <a:srgbClr val="E65100"/>
                </a:solidFill>
              </a:defRPr>
            </a:pPr>
            <a:r>
              <a:t>LAYER 1: DATA COLLECTION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Weather &amp; Rainfall (IMD API, GPM) • Soil Moisture (NASA SMAP) • Terrain &amp; Elevation (SRTM 30m DEM) • Satellite Data (Sentinel-2) • Citizen &amp; Field Officer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8600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100">
                <a:solidFill>
                  <a:srgbClr val="1B365D"/>
                </a:solidFill>
              </a:defRPr>
            </a:pPr>
            <a:r>
              <a:t>LAYER 2: AI AND ANALYTICS ENGINE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Data Processing (Pandas, NumPy) • Machine Learning Risk Analysis (Scikit-learn, XGBoost) • Explainable AI Module (SHAP Factor Breakdown)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100">
                <a:solidFill>
                  <a:srgbClr val="008A4B"/>
                </a:solidFill>
              </a:defRPr>
            </a:pPr>
            <a:r>
              <a:t>LAYER 3: GIS AND IMPACT ANALYSIS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PostgreSQL + PostGIS Spatial Geodatabase • Dynamic Risk Mapping • Road Blockage Analysis • Village Isolation Detection • Emergency Alternative Routes (Dijkstra)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728655" cy="91440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b="1" sz="1100">
                <a:solidFill>
                  <a:srgbClr val="EF4444"/>
                </a:solidFill>
              </a:defRPr>
            </a:pPr>
            <a:r>
              <a:t>LAYER 4: OUTPUT &amp; ACTION</a:t>
            </a:r>
          </a:p>
          <a:p>
            <a:pPr>
              <a:defRPr sz="919">
                <a:solidFill>
                  <a:srgbClr val="1E293B"/>
                </a:solidFill>
              </a:defRPr>
            </a:pPr>
            <a:r>
              <a:t>Authority Command Dashboard (React.js + Leaflet/Mapbox) • Mobile Application (Flutter + SQLite) • Early Warning Alerts (Firebase Push &amp; SMS)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728655" cy="804672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73152"/>
          <a:lstStyle/>
          <a:p>
            <a:pPr algn="ctr">
              <a:defRPr b="1" sz="1000">
                <a:solidFill>
                  <a:srgbClr val="64FFDA"/>
                </a:solidFill>
              </a:defRPr>
            </a:pPr>
            <a:r>
              <a:t>PURPOSE-BUILT TECHNOLOGY STACK:</a:t>
            </a:r>
          </a:p>
          <a:p>
            <a:pPr>
              <a:defRPr sz="919">
                <a:solidFill>
                  <a:srgbClr val="FFFFFF"/>
                </a:solidFill>
              </a:defRPr>
            </a:pPr>
            <a:r>
              <a:t>React.js (Dashboard)  •  Flutter (Mobile)  •  Python + FastAPI (Backend)  •  Scikit-learn (AI/ML)  •  PostgreSQL + PostGIS (Spatial DB)  •  Leaflet (GIS Mapping)  •  SQLite (Offline Mobile DB)  •  Firebase (Cloud Alerts)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ih_con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E65100"/>
                </a:solidFill>
              </a:defRPr>
            </a:pPr>
            <a:r>
              <a:t>SMART INDIA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28600"/>
            <a:ext cx="52422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000">
                <a:solidFill>
                  <a:srgbClr val="1B365D"/>
                </a:solidFill>
              </a:defRPr>
            </a:pPr>
            <a:r>
              <a:t>PS ID: SIH26001  |  MDoNER  |  Software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1B365D"/>
                </a:solidFill>
              </a:defRPr>
            </a:pPr>
            <a:r>
              <a:t>IMPACT, FEASIBILITY &amp; FUTURE: The AlertNex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Team AlertNex | Smart India Hackathon 2026 | PS: SIH26001 | Disaster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1858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950">
                <a:solidFill>
                  <a:srgbClr val="1B365D"/>
                </a:solidFill>
              </a:defRPr>
            </a:pPr>
            <a:r>
              <a:t>Slide 6 of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474720" cy="425196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008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50">
                <a:solidFill>
                  <a:srgbClr val="008A4B"/>
                </a:solidFill>
              </a:defRPr>
            </a:pPr>
            <a:r>
              <a:t>EXPECTED IMPACT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Earlier disaster preparedness with 6-12 hour warning windows.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Faster emergency response and rescue mobilization for SDRF &amp; BRO.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Better protection for vulnerable remote tribal hill communities.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Reduced village isolation through proactive road clearing.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Improved data-driven decision-making for district magistrates.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Better infrastructure planning and reduced recurring economic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234440"/>
            <a:ext cx="3474720" cy="425196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50">
                <a:solidFill>
                  <a:srgbClr val="1B365D"/>
                </a:solidFill>
              </a:defRPr>
            </a:pPr>
            <a:r>
              <a:t>FEASIBILITY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Uses open environmental and geographical data (IMD, NASA, SRTM).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Can start with selected high-risk pilot areas (e.g. Sikkim or Assam).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Modular system architecture ensures seamless independent progress.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Realistic student-level prototype deployable on cloud free-tiers.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Uses reliable open-source technologies (FastAPI, PostGIS, Flutter).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Operates without requiring crores in expensive physical hardware sensors.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234440"/>
            <a:ext cx="3474720" cy="4251960"/>
          </a:xfrm>
          <a:prstGeom prst="roundRect">
            <a:avLst/>
          </a:prstGeom>
          <a:solidFill>
            <a:srgbClr val="FAFAFC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b="1" sz="1150">
                <a:solidFill>
                  <a:srgbClr val="E65100"/>
                </a:solidFill>
              </a:defRPr>
            </a:pPr>
            <a:r>
              <a:t>FUTURE SCOPE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Drone monitoring for automated aerial slope crack verification.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Advanced satellite radar (InSAR) monitoring for millimeter ground movement.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Regional language support (Assamese, Bengali, Nepali, Mizo, Khasi).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Emergency service integration directly with 112 India and BRO Swastik.</a:t>
            </a:r>
          </a:p>
          <a:p>
            <a:pPr>
              <a:defRPr sz="880">
                <a:solidFill>
                  <a:srgbClr val="1E293B"/>
                </a:solidFill>
              </a:defRPr>
            </a:pPr>
            <a:r>
              <a:t>• Expansion to other Himalayan regions (Uttarakhand, Himachal Pradesh).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623560"/>
            <a:ext cx="10728655" cy="685800"/>
          </a:xfrm>
          <a:prstGeom prst="roundRect">
            <a:avLst/>
          </a:prstGeom>
          <a:solidFill>
            <a:srgbClr val="0A192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TEAM ALERTNEX  •  AI-POWERED EARLY WARNING FOR SAFER COMMUNITIES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