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22B51-67EF-464F-BC4E-336210FD4A78}" v="3" dt="2026-09-04T15:53:20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kumar" userId="f732a104cffdcd6c" providerId="LiveId" clId="{6382C869-4F11-408D-9083-868BF833C4DE}"/>
    <pc:docChg chg="modSld">
      <pc:chgData name="ayush kumar" userId="f732a104cffdcd6c" providerId="LiveId" clId="{6382C869-4F11-408D-9083-868BF833C4DE}" dt="2026-09-04T15:54:00.395" v="49" actId="20577"/>
      <pc:docMkLst>
        <pc:docMk/>
      </pc:docMkLst>
      <pc:sldChg chg="modSp mod">
        <pc:chgData name="ayush kumar" userId="f732a104cffdcd6c" providerId="LiveId" clId="{6382C869-4F11-408D-9083-868BF833C4DE}" dt="2026-09-04T15:54:00.395" v="49" actId="20577"/>
        <pc:sldMkLst>
          <pc:docMk/>
          <pc:sldMk cId="0" sldId="256"/>
        </pc:sldMkLst>
        <pc:spChg chg="mod">
          <ac:chgData name="ayush kumar" userId="f732a104cffdcd6c" providerId="LiveId" clId="{6382C869-4F11-408D-9083-868BF833C4DE}" dt="2026-09-04T15:52:41.720" v="11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yush kumar" userId="f732a104cffdcd6c" providerId="LiveId" clId="{6382C869-4F11-408D-9083-868BF833C4DE}" dt="2026-09-04T15:54:00.395" v="49" actId="20577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yush kumar" userId="f732a104cffdcd6c" providerId="LiveId" clId="{6382C869-4F11-408D-9083-868BF833C4DE}" dt="2026-09-04T15:53:03.006" v="2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ayush kumar" userId="f732a104cffdcd6c" providerId="LiveId" clId="{6382C869-4F11-408D-9083-868BF833C4DE}" dt="2026-09-04T15:53:20.809" v="41"/>
          <ac:spMkLst>
            <pc:docMk/>
            <pc:sldMk cId="0" sldId="256"/>
            <ac:spMk id="6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2926080" cy="41148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320040"/>
            <a:ext cx="164592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PS ID: SH2001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320040"/>
            <a:ext cx="1828800" cy="4114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Software Edition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320040"/>
            <a:ext cx="2194560" cy="41148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Theme: Disaster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7772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AI-Based Early Warning &amp;</a:t>
            </a:r>
          </a:p>
          <a:p>
            <a:pPr algn="l">
              <a:spcAft>
                <a:spcPts val="400"/>
              </a:spcAft>
              <a:defRPr sz="3200" b="1" i="0">
                <a:solidFill>
                  <a:srgbClr val="00D4FF"/>
                </a:solidFill>
                <a:latin typeface="Calibri"/>
              </a:defRPr>
            </a:pPr>
            <a:r>
              <a:t>Landslide Risk Monitoring System</a:t>
            </a:r>
          </a:p>
          <a:p>
            <a:pPr algn="l">
              <a:spcAft>
                <a:spcPts val="600"/>
              </a:spcAft>
              <a:defRPr sz="2000" b="0" i="0">
                <a:solidFill>
                  <a:srgbClr val="CCCCCC"/>
                </a:solidFill>
                <a:latin typeface="Calibri"/>
              </a:defRPr>
            </a:pPr>
            <a:r>
              <a:t>for North Eastern Region (NER) of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868680"/>
            <a:ext cx="3291840" cy="21031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0" y="960120"/>
            <a:ext cx="31089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05156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OFFICIAL PROBLEM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Organization: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3716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Ministry of Development of NER (MDoNER)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66420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Problem Statement: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664208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SH2001 (Software Edition)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5681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Target Region: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956816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8 North Eastern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49424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Institute Name: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249424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[Your College / Institute Name, City]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5420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Faculty Mentor: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542032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[Faculty Mentor Name / Designation]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41148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6B35"/>
                </a:solidFill>
                <a:latin typeface="Calibri"/>
              </a:defRPr>
            </a:pPr>
            <a:r>
              <a:t>Team AlertNex  (Lead: Ayush Kumar)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1">
                <a:solidFill>
                  <a:srgbClr val="00C97B"/>
                </a:solidFill>
                <a:latin typeface="Calibri"/>
              </a:defRPr>
            </a:pPr>
            <a:r>
              <a:t>"Turning raw environmental data into actionable intelligence for landslide disaster resilience in NER"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11274552" cy="242316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97763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TEAM MEMBERS  (SIH 6-Member Mandate Compliant)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1">
                <a:solidFill>
                  <a:srgbClr val="FFC107"/>
                </a:solidFill>
                <a:latin typeface="Calibri"/>
              </a:defRPr>
            </a:pPr>
            <a:r>
              <a:t>✔ Female Representation: Prerana Mondal  |  100% SIH Rule Compliant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370832"/>
            <a:ext cx="169164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88720" y="4462272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Ayush Kumar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C107"/>
                </a:solidFill>
                <a:latin typeface="Calibri"/>
              </a:defRPr>
            </a:pPr>
            <a:r>
              <a:t>Team Leader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Full-Stack Dev, AI/ML, System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41448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87168" y="4370832"/>
            <a:ext cx="169164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035808" y="4462272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Prerana Mondal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7BFF"/>
                </a:solidFill>
                <a:latin typeface="Calibri"/>
              </a:defRPr>
            </a:pPr>
            <a:r>
              <a:t>Member (Female)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7168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Frontend Dev, UI/UX Design, Data Visualization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88536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34256" y="4370832"/>
            <a:ext cx="1691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882896" y="4462272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Sondeep Kumar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D4FF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6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Backend Dev, PostgreSQL/PostGIS, REST APIs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5624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81344" y="4370832"/>
            <a:ext cx="169164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729984" y="4462272"/>
            <a:ext cx="594360" cy="59436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1344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Shinjini Lohar</a:t>
            </a:r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6181344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00C97B"/>
                </a:solidFill>
                <a:latin typeface="Calibri"/>
              </a:defRPr>
            </a:pPr>
            <a:r>
              <a:rPr dirty="0"/>
              <a:t>Member</a:t>
            </a:r>
            <a:r>
              <a:rPr lang="en-IN"/>
              <a:t>(Female)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6181344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AI/ML Engineer, Computer Vision, Predictive Models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82712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028432" y="4370832"/>
            <a:ext cx="16916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577072" y="4462272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Subham kumar </a:t>
            </a:r>
            <a:r>
              <a:rPr lang="en-IN" dirty="0" err="1"/>
              <a:t>modi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8028432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6B35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2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Geospatial &amp; GIS Analyst, Mobile PWA, QA &amp; Testing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9800" y="4343400"/>
            <a:ext cx="1783080" cy="17830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875520" y="4370832"/>
            <a:ext cx="1691640" cy="254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424160" y="4462272"/>
            <a:ext cx="594360" cy="59436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51206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Rahul deo </a:t>
            </a:r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9875520" y="5376672"/>
            <a:ext cx="1691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1" i="0">
                <a:solidFill>
                  <a:srgbClr val="FF4D4D"/>
                </a:solidFill>
                <a:latin typeface="Calibri"/>
              </a:defRPr>
            </a:pPr>
            <a:r>
              <a:t>Member (To Be Updated)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596128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Cloud Infrastructure, Edge Computing &amp; DevOps Security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  |  PROBLEM UNDERSTANDING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IDEA TITLE &amp;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1274552" cy="502920"/>
          </a:xfrm>
          <a:prstGeom prst="roundRect">
            <a:avLst/>
          </a:prstGeom>
          <a:solidFill>
            <a:srgbClr val="002B1A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00C97B"/>
                </a:solidFill>
                <a:latin typeface="Calibri"/>
              </a:defRPr>
            </a:pPr>
            <a:r>
              <a:t>AlertNex: AI-Powered Landslide Early Warning &amp; Risk Monitoring Platform for 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4114800" cy="38404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6B35"/>
                </a:solidFill>
                <a:latin typeface="Calibri"/>
              </a:defRPr>
            </a:pPr>
            <a:r>
              <a:t>BACKGROUND &amp; REGIONAL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74903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▸ Fragile Geology: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Young, seismically active Himalayan &amp; Indo-Burman mountain ranges spanning all 8 NER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374903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▸ Extreme Monsoons: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Torrential rainfall (&gt;2,000 mm/year) triggers sudden debris flows, slope failures, and flash floods.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374903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▸ Severe Toll: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4,796+ recorded landslides (2015-2024), ~1,200 annual casualties, and ₹500+ Cr annual economic losses.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74903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▸ Transport Isolation: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7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Vital highway lifelines NH-10 (Sikkim) and NH-29 (Nagaland/Manipur) repeatedly severed for weeks.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374903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▸ Status Quo Gaps: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73168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CCCCCC"/>
                </a:solidFill>
                <a:latin typeface="Calibri"/>
              </a:defRPr>
            </a:pPr>
            <a:r>
              <a:t>Current monitoring is 70%+ reactive post-disaster, manual, single-sensor prone, and fails in hill telecom blackouts.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1691640"/>
            <a:ext cx="7022592" cy="38404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0600" y="1783080"/>
            <a:ext cx="6839712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1874519"/>
            <a:ext cx="6583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D4FF"/>
                </a:solidFill>
                <a:latin typeface="Calibri"/>
              </a:defRPr>
            </a:pPr>
            <a:r>
              <a:t>ALERTNEX ARCHITECTURAL SOLUTION PILLARS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219456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37760" y="2240280"/>
            <a:ext cx="315468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228600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007BFF"/>
                </a:solidFill>
                <a:latin typeface="Calibri"/>
              </a:defRPr>
            </a:pPr>
            <a:r>
              <a:t>Multi-Source Ingestion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51460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Automates live ingestion of IMD weather radar, Sentinel-2 optical/SAR satellite imagery, GSI lithology, and ground IoT soil sensors into unified spatial pipeline.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19456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2240280"/>
            <a:ext cx="31546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228600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00D4FF"/>
                </a:solidFill>
                <a:latin typeface="Calibri"/>
              </a:defRPr>
            </a:pPr>
            <a:r>
              <a:t>Hybrid AI/ML Ensemble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51460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Fuses Random Forest, XGBoost, CNN displacement detection, and LSTM rainfall forecasting to predict slope collapse 2-6 hours prior (&gt;90% accuracy).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324612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37760" y="3291840"/>
            <a:ext cx="315468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83480" y="333756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00C97B"/>
                </a:solidFill>
                <a:latin typeface="Calibri"/>
              </a:defRPr>
            </a:pPr>
            <a:r>
              <a:t>GIS Risk Heatmap &amp; Evacuation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56616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Interactive Leaflet &amp; PostGIS visualizer mapping live hazard danger zones, road blockages, and automated safe evacuation corridors.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24612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3291840"/>
            <a:ext cx="31546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333756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Multi-Channel Local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56616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Instant warning broadcast via SMS, siren triggers, and synthesized voice calls in native NER languages (Assamese, Mizo, Manipuri, Khasi, Nagamese).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429768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37760" y="4343400"/>
            <a:ext cx="315468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83480" y="438912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C107"/>
                </a:solidFill>
                <a:latin typeface="Calibri"/>
              </a:defRPr>
            </a:pPr>
            <a:r>
              <a:t>Field Crowdsourcing (PWA)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461772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Progressive Web App empowering citizens and field workers to upload geo-tagged images of ground fissures and water seepage to calibrate AI models.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4297680"/>
            <a:ext cx="3246120" cy="96012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21040" y="4343400"/>
            <a:ext cx="3154680" cy="254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4389120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4D4D"/>
                </a:solidFill>
                <a:latin typeface="Calibri"/>
              </a:defRPr>
            </a:pPr>
            <a:r>
              <a:t>Offline Edge &amp; Low-Network Mode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617720"/>
            <a:ext cx="3063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Local edge caching with store-and-forward sync plus automatic SMS fallback ensures 100% operation during hill network blackouts.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623560"/>
            <a:ext cx="11274552" cy="685800"/>
          </a:xfrm>
          <a:prstGeom prst="roundRect">
            <a:avLst/>
          </a:prstGeom>
          <a:solidFill>
            <a:srgbClr val="1A2D4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5669280"/>
            <a:ext cx="10881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C107"/>
                </a:solidFill>
                <a:latin typeface="Calibri"/>
              </a:defRPr>
            </a:pPr>
            <a:r>
              <a:t>⭐ CORE NOVELTY &amp; COMPETITIVE ADVANTAGE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0" i="0">
                <a:solidFill>
                  <a:srgbClr val="FFFFFF"/>
                </a:solidFill>
                <a:latin typeface="Calibri"/>
              </a:defRPr>
            </a:pPr>
            <a:r>
              <a:t>1) Multi-modal AI fusing spaceborne InSAR, weather radar &amp; ground sensors.  2) 100% Offline-First design overcoming hill telecom loss.  3) Vernacular voice synthesis bridging ethnic linguistic barriers.  4) Closed-loop crowdsourcing validating regional ground-truth.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  | 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697480" cy="3291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60604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007BFF"/>
                </a:solidFill>
                <a:latin typeface="Calibri"/>
              </a:defRPr>
            </a:pPr>
            <a:r>
              <a:t>LAYER 1: DATA INGESTION &amp;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Satellite Feeds: Sentinel-2 Multispectral &amp; Landsat-8/9 Surface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Mausam Weather Radar: Live IMD Rainfall &amp; AWS precipitation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06624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Geological &amp; Elevation: GSI Lithology fault lines &amp; SRTM 30m DEM slope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36976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NRSC Historical Catalog: ISRO Bhuvan historical landslide spatial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67328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Community Inputs: Geo-tagged crack photos &amp; IoT soil moisture/pore sensors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097280"/>
            <a:ext cx="2697480" cy="3291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143000"/>
            <a:ext cx="2606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23444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00D4FF"/>
                </a:solidFill>
                <a:latin typeface="Calibri"/>
              </a:defRPr>
            </a:pPr>
            <a:r>
              <a:t>LAYER 2: AI/ML PREDICTIVE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6459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Spatial Feature Engineering: NDVI vegetation index, slope aspect &amp; curvature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7627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Susceptibility Classification: Random Forest &amp; XGBoost ensemble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706624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Surface Deformation Detection: CNN analyzing optical displacement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236976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Precipitation Threshold Trigger: LSTM neural network on rainfall time-series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767328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Dynamic Probability Scoring: &gt;90% precision with automated drift re-calibration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2697480" cy="3291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143000"/>
            <a:ext cx="260604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23444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00C97B"/>
                </a:solidFill>
                <a:latin typeface="Calibri"/>
              </a:defRPr>
            </a:pPr>
            <a:r>
              <a:t>LAYER 3: GEOSPATIAL &amp; ALERT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6459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PostGIS Database: Spatio-temporal relational storage for rapid polygon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17627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GeoServer &amp; Vector Tiles: Real-time dynamic risk heatmaps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706624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Emergency Routing Engine: OpenStreetMap shortest safe corridor pathfinding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236976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Multi-Channel Dispatch: Twilio SMS, Firebase FCM push &amp; automated siren relays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767328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Multilingual NLP: Text &amp; speech synthesis in 10+ North Eastern languages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097280"/>
            <a:ext cx="2697480" cy="3291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06840" y="1143000"/>
            <a:ext cx="26060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123444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LAYER 4: USER APPLICATIONS &amp;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16459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Command Console: React.js web dashboard for District Admins &amp; SDMA officers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217627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Field Personnel PWA: Offline-first mobile app with local SQLite/IndexedDB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2706624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Public Travel Portal: Real-time highway status &amp; landslide travel advisories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3236976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• External REST APIs: Interoperability with NDMA national portal &amp; BRO command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11274552" cy="182880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4553712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6177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COMPREHENSIVE TECHNOLOGY STACK &amp; DATA PIPELINE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92040"/>
            <a:ext cx="2651760" cy="685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49377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7BFF"/>
                </a:solidFill>
                <a:latin typeface="Calibri"/>
              </a:defRPr>
            </a:pPr>
            <a:r>
              <a:t>AI / ML &amp; Data Science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Python, TensorFlow, PyTorch, scikit-learn, XGBoost, OpenCV, Pandas, NumPy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4892040"/>
            <a:ext cx="2651760" cy="685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20440" y="49377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D4FF"/>
                </a:solidFill>
                <a:latin typeface="Calibri"/>
              </a:defRPr>
            </a:pPr>
            <a:r>
              <a:t>Backend &amp; Databases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FastAPI (Python), Node.js / Express, PostgreSQL + PostGIS, Redis Cache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892040"/>
            <a:ext cx="2651760" cy="685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49377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C97B"/>
                </a:solidFill>
                <a:latin typeface="Calibri"/>
              </a:defRPr>
            </a:pPr>
            <a:r>
              <a:t>Frontend &amp; Geospatial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React.js, MapLibre GL, Leaflet.js, GeoServer, Tailwind CSS, PWA Service Workers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39" y="4892040"/>
            <a:ext cx="2651760" cy="68580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98279" y="49377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Cloud, Edge &amp; Alerts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79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Docker, Kubernetes, AWS/GCP, Nginx, Twilio SMS API, Firebase FCM, Webhooks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FFC107"/>
                </a:solidFill>
                <a:latin typeface="Calibri"/>
              </a:defRPr>
            </a:pPr>
            <a:r>
              <a:t>Pipeline Execution: 1. Ingest (IMD/Sat Feeds) ➔ 2. Feature Extraction (Slope/Rainfall) ➔ 3. Ensemble Inference (Risk &gt; 90%) ➔ 4. Alert Broadcast (&lt;30s) ➔ 5. Evacuation Routing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  |  IMPLEMENTATION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FEASIBILITY &amp;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4114800" cy="521208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93192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97B"/>
                </a:solidFill>
                <a:latin typeface="Calibri"/>
              </a:defRPr>
            </a:pPr>
            <a:r>
              <a:t>36-HOUR HACKATHON SPRINT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749039" cy="10058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45920"/>
            <a:ext cx="365760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7BFF"/>
                </a:solidFill>
                <a:latin typeface="Calibri"/>
              </a:defRPr>
            </a:pPr>
            <a:r>
              <a:t>Hours 00 - 08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9164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Environment &amp; ML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47672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Docker stack setup, NRSC historical data ingestion, baseline Random Forest &amp; XGBoost model training (&gt;85% initial accuracy).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3749039" cy="10058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43200"/>
            <a:ext cx="3657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D4FF"/>
                </a:solidFill>
                <a:latin typeface="Calibri"/>
              </a:defRPr>
            </a:pPr>
            <a:r>
              <a:t>Hours 08 - 18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7889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GIS Backend &amp; Spatial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44952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PostGIS spatial schema, GeoServer vector tile rendering, dynamic hazard contour generation, and REST APIs.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3749039" cy="10058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40480"/>
            <a:ext cx="365760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C97B"/>
                </a:solidFill>
                <a:latin typeface="Calibri"/>
              </a:defRPr>
            </a:pPr>
            <a:r>
              <a:t>Hours 18 - 28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8862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UI Dashboard &amp; Alert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42232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React command console with interactive Leaflet map, PWA offline caching service workers, Twilio SMS broadcast pipeline.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3749039" cy="10058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937760"/>
            <a:ext cx="3657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Hours 28 - 36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8348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Scenario Testing &amp; Polishing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9512"/>
            <a:ext cx="34747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End-to-end simulated Sikkim/Assam monsoon flood event, edge network failure failover test, bug fixing &amp; demo dry runs.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1097280"/>
            <a:ext cx="7022592" cy="23317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00600" y="1188720"/>
            <a:ext cx="683971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1280160"/>
            <a:ext cx="6583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6B35"/>
                </a:solidFill>
                <a:latin typeface="Calibri"/>
              </a:defRPr>
            </a:pPr>
            <a:r>
              <a:t>POST-HACKATHON SCALABILITY ROADMAP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1600200"/>
            <a:ext cx="1600200" cy="16916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37760" y="1645920"/>
            <a:ext cx="150876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65192" y="1719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007BFF"/>
                </a:solidFill>
                <a:latin typeface="Calibri"/>
              </a:defRPr>
            </a:pPr>
            <a:r>
              <a:t>Phase 1: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20116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FFC107"/>
                </a:solidFill>
                <a:latin typeface="Calibri"/>
              </a:defRPr>
            </a:pPr>
            <a:r>
              <a:t>36 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65192" y="224028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Working prototype on 2 pilot NER districts with live IMD weather feed.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1600200"/>
            <a:ext cx="1600200" cy="16916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29400" y="1645920"/>
            <a:ext cx="15087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1719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00D4FF"/>
                </a:solidFill>
                <a:latin typeface="Calibri"/>
              </a:defRPr>
            </a:pPr>
            <a:r>
              <a:t>Phase 2: On-Ground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20116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FFC107"/>
                </a:solidFill>
                <a:latin typeface="Calibri"/>
              </a:defRPr>
            </a:pPr>
            <a:r>
              <a:t>3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224028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Deployment across 5 high-risk districts in Sikkim &amp; Assam with ground IoT nodes.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1600200"/>
            <a:ext cx="1600200" cy="16916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21040" y="1645920"/>
            <a:ext cx="150876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719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00C97B"/>
                </a:solidFill>
                <a:latin typeface="Calibri"/>
              </a:defRPr>
            </a:pPr>
            <a:r>
              <a:t>Phase 3: NER-Wide Rollout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0116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FFC107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24028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Full coverage across all 8 NER states integrating State Disaster Management Authorities.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66960" y="1600200"/>
            <a:ext cx="1600200" cy="169164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12680" y="1645920"/>
            <a:ext cx="150876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40112" y="1719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FF6B35"/>
                </a:solidFill>
                <a:latin typeface="Calibri"/>
              </a:defRPr>
            </a:pPr>
            <a:r>
              <a:t>Phase 4: National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0112" y="20116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FFC107"/>
                </a:solidFill>
                <a:latin typeface="Calibri"/>
              </a:defRPr>
            </a:pPr>
            <a:r>
              <a:t>12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40112" y="2240280"/>
            <a:ext cx="14630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Pan-India integration with NDMA national portal, BRO, and Indian Railways.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09160" y="3520440"/>
            <a:ext cx="7022592" cy="27889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800600" y="3611880"/>
            <a:ext cx="6839712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92040" y="3703320"/>
            <a:ext cx="6583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4D4D"/>
                </a:solidFill>
                <a:latin typeface="Calibri"/>
              </a:defRPr>
            </a:pPr>
            <a:r>
              <a:t>ENGINEERED RISK ANALYSIS &amp; MITIGATION MATRIX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4069080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⚠ Hill Telecom Blackouts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Delays early warning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0690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00D4FF"/>
                </a:solidFill>
                <a:latin typeface="Calibri"/>
              </a:defRPr>
            </a:pPr>
            <a:r>
              <a:t>✔ Offline-first PWA caching + local mesh + automated SMS broadcast fallback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4069080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00C97B"/>
                </a:solidFill>
                <a:latin typeface="Calibri"/>
              </a:defRPr>
            </a:pPr>
            <a:r>
              <a:t>RESOLVED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4599432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⚠ Complex Topography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4599432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False alarms / errors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459943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00D4FF"/>
                </a:solidFill>
                <a:latin typeface="Calibri"/>
              </a:defRPr>
            </a:pPr>
            <a:r>
              <a:t>✔ Ensemble AI fusing local rain gauges, InSAR satellite data &amp; terrain DEM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4599432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00C97B"/>
                </a:solidFill>
                <a:latin typeface="Calibri"/>
              </a:defRPr>
            </a:pPr>
            <a:r>
              <a:t>RESOLVED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5129784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⚠ 15+ Native Dialects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5129784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Comprehension barrier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01000" y="512978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00D4FF"/>
                </a:solidFill>
                <a:latin typeface="Calibri"/>
              </a:defRPr>
            </a:pPr>
            <a:r>
              <a:t>✔ Automated multilingual text &amp; speech synthesis in Assamese, Mizo, Khasi, etc.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5129784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00C97B"/>
                </a:solidFill>
                <a:latin typeface="Calibri"/>
              </a:defRPr>
            </a:pPr>
            <a:r>
              <a:t>RESOLVED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660136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 i="0">
                <a:solidFill>
                  <a:srgbClr val="FFFFFF"/>
                </a:solidFill>
                <a:latin typeface="Calibri"/>
              </a:defRPr>
            </a:pPr>
            <a:r>
              <a:t>⚠ Sensor Hardware Costs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5660136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Budget constraints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5660136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00D4FF"/>
                </a:solidFill>
                <a:latin typeface="Calibri"/>
              </a:defRPr>
            </a:pPr>
            <a:r>
              <a:t>✔ Satellite-first baseline monitoring supplemented by low-cost solar community IoT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5660136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00C97B"/>
                </a:solidFill>
                <a:latin typeface="Calibri"/>
              </a:defRPr>
            </a:pPr>
            <a:r>
              <a:t>RESOLVED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  |  SOCIO-ECONOMIC IMPACT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IMPACT &amp;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697480" cy="16916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60604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00C97B"/>
                </a:solidFill>
                <a:latin typeface="Calibri"/>
              </a:defRPr>
            </a:pPr>
            <a:r>
              <a:t>60%+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Casualty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2 to 6-hour proactive warning window enables safe mass evacuation before collapse.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697480" cy="16916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60604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007BFF"/>
                </a:solidFill>
                <a:latin typeface="Calibri"/>
              </a:defRPr>
            </a:pPr>
            <a:r>
              <a:t>₹500 Cr+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78308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Mitigates highway transit disruption, equipment loss &amp; post-disaster rescue bills.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97280"/>
            <a:ext cx="2697480" cy="16916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6060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FF6B35"/>
                </a:solidFill>
                <a:latin typeface="Calibri"/>
              </a:defRPr>
            </a:pPr>
            <a:r>
              <a:t>45M+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8308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Citizens 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Comprehensive hazard shielding across all 8 North Eastern states and border villages.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097280"/>
            <a:ext cx="2697480" cy="16916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143000"/>
            <a:ext cx="2606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23444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00D4FF"/>
                </a:solidFill>
                <a:latin typeface="Calibri"/>
              </a:defRPr>
            </a:pPr>
            <a:r>
              <a:t>&gt;90%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783080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Prediction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05740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Multi-source AI ensemble eliminates false alarms and mitigates alert fatigue.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11274552" cy="160020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999232"/>
            <a:ext cx="1106424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06324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C107"/>
                </a:solidFill>
                <a:latin typeface="Calibri"/>
              </a:defRPr>
            </a:pPr>
            <a:r>
              <a:t>ALIGNMENT WITH UN SUSTAINABLE DEVELOPMENT GOALS (SDGs)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364992"/>
            <a:ext cx="2651760" cy="10515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401568"/>
            <a:ext cx="256032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SDG 11: Sustainable Cities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22191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Target 11.5: Protect vulnerable hill settlements &amp; reduce disaster casualties.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364992"/>
            <a:ext cx="2651760" cy="10515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0" y="3401568"/>
            <a:ext cx="2560320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0440" y="34747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C97B"/>
                </a:solidFill>
                <a:latin typeface="Calibri"/>
              </a:defRPr>
            </a:pPr>
            <a:r>
              <a:t>SDG 13: Climate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3822191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Target 13.1: Adaptive resilience against climate-driven extreme cloudbursts.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364992"/>
            <a:ext cx="2651760" cy="10515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401568"/>
            <a:ext cx="256032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34747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7BFF"/>
                </a:solidFill>
                <a:latin typeface="Calibri"/>
              </a:defRPr>
            </a:pPr>
            <a:r>
              <a:t>SDG 9: Resilient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822191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Target 9.1: Proactively safeguard highway lifelines (NH-10, NH-29) and bridges.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39" y="3364992"/>
            <a:ext cx="2651760" cy="10515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52559" y="3401568"/>
            <a:ext cx="2560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79" y="34747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D4FF"/>
                </a:solidFill>
                <a:latin typeface="Calibri"/>
              </a:defRPr>
            </a:pPr>
            <a:r>
              <a:t>SDG 17: Multi-Agency Partnerships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3822191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Target 17.16: Unified coordination between MDoNER, NDMA, IMD, GSI &amp; BRO.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663440"/>
            <a:ext cx="11274552" cy="164592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4736592"/>
            <a:ext cx="110642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80060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D4FF"/>
                </a:solidFill>
                <a:latin typeface="Calibri"/>
              </a:defRPr>
            </a:pPr>
            <a:r>
              <a:t>MULTI-STAKEHOLDER BENEFICIARIES &amp; VALUE PROPOSITION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074920"/>
            <a:ext cx="2651760" cy="10972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13892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007BFF"/>
                </a:solidFill>
                <a:latin typeface="Calibri"/>
              </a:defRPr>
            </a:pPr>
            <a:r>
              <a:t>District Admins &amp; SDMAs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44068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Automated hazard GIS dashboard, resource dispatch optimization, evacuated corridor routing.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5074920"/>
            <a:ext cx="2651760" cy="10972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20440" y="513892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00C97B"/>
                </a:solidFill>
                <a:latin typeface="Calibri"/>
              </a:defRPr>
            </a:pPr>
            <a:r>
              <a:t>Hill Citizens &amp; Farmers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44068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Life-saving vernacular voice/SMS warnings, livestock/dwelling security, citizen reporting.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074920"/>
            <a:ext cx="2651760" cy="10972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09360" y="513892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FF6B35"/>
                </a:solidFill>
                <a:latin typeface="Calibri"/>
              </a:defRPr>
            </a:pPr>
            <a:r>
              <a:t>MDoNER &amp; Policy Makers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44068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Granular spatial analytics for targeted slope mitigation funding &amp; cross-state coordination.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06839" y="5074920"/>
            <a:ext cx="2651760" cy="109728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98279" y="513892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 i="0">
                <a:solidFill>
                  <a:srgbClr val="00D4FF"/>
                </a:solidFill>
                <a:latin typeface="Calibri"/>
              </a:defRPr>
            </a:pPr>
            <a:r>
              <a:t>BRO &amp; Transport Lifelines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79" y="544068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Continuous highway vulnerability heatmaps, pre-positioned clearing machinery at high-risk turns.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SMART INDIA HACKATHON 2026  |  SCIENTIFIC CITATIONS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RESEARCH, REFERENCES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23774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7BFF"/>
                </a:solidFill>
                <a:latin typeface="Calibri"/>
              </a:defRPr>
            </a:pPr>
            <a:r>
              <a:t>PRIMARY DATA SOURCES &amp; SATELLITE REPOSITORIES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NRSC / ISRO (Bhuvan Portal): National Landslide Susceptibility Mapping &amp; Historical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IMD / MoES (Mausam APIs): Real-time AWS weather stations, Doppler Radar &amp; precipitation forecasts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Geological Survey of India (GSI): 1:50,000 scale geological hazard &amp; lithological fault line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Copernicus Open Access (ESA): Sentinel-2 Multispectral &amp; Sentinel-1 SAR surface displacement feeds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3580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USGS Earth Explorer: SRTM 30m Digital Elevation Models (DEM) &amp; Landsat-8/9 thermal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097280"/>
            <a:ext cx="5486400" cy="23774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1188720"/>
            <a:ext cx="530352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28016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97B"/>
                </a:solidFill>
                <a:latin typeface="Calibri"/>
              </a:defRPr>
            </a:pPr>
            <a:r>
              <a:t>KEY SCIENTIFIC BENCHMARKS &amp; LITERATURE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57276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IIT Mandi AI Landslide Network: Indigenous MEMS-based early warning deployed in Himalayas (&gt;90% recall).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93852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Amrita University IoT LEWS: Pioneering multi-tier wireless sensor networks in Sikkim &amp; Western Ghats.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0428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NIT Silchar Earthquake Studies: Empirical studies on seismic-induced slope failure thresholds in Assam/NER.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67004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MeitY IndiaAI Terralux: National open-access AI-powered geospatial platform for disaster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03580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CCCCCC"/>
                </a:solidFill>
                <a:latin typeface="Calibri"/>
              </a:defRPr>
            </a:pPr>
            <a:r>
              <a:t>• NDMA Guidelines (2019): National Landslide Risk Management Strategy for early warning and resilience.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11274552" cy="137160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685032"/>
            <a:ext cx="1106424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39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C107"/>
                </a:solidFill>
                <a:latin typeface="Calibri"/>
              </a:defRPr>
            </a:pPr>
            <a:r>
              <a:t>SIH 2026 OFFICIAL SUBMISSION COMPLIANCE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23360"/>
            <a:ext cx="26517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078224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C97B"/>
                </a:solidFill>
                <a:latin typeface="Calibri"/>
              </a:defRPr>
            </a:pPr>
            <a:r>
              <a:t>✔ Strict 6-Slide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15968"/>
            <a:ext cx="2468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Exactly 6 slides matching prescribed AICTE / MIC SIH format with zero omissions.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023360"/>
            <a:ext cx="26517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4078224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7BFF"/>
                </a:solidFill>
                <a:latin typeface="Calibri"/>
              </a:defRPr>
            </a:pPr>
            <a:r>
              <a:t>✔ 6-Member Team Mandate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315968"/>
            <a:ext cx="2468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6 members total with female representation (Prerana Mondal) - 100% compliant.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26517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4078224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00D4FF"/>
                </a:solidFill>
                <a:latin typeface="Calibri"/>
              </a:defRPr>
            </a:pPr>
            <a:r>
              <a:t>✔ Problem Statement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315968"/>
            <a:ext cx="2468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Accurately mapped to SH2001 (Ministry of Development of NER - Software).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39" y="4023360"/>
            <a:ext cx="2651760" cy="822960"/>
          </a:xfrm>
          <a:prstGeom prst="roundRect">
            <a:avLst/>
          </a:prstGeom>
          <a:solidFill>
            <a:srgbClr val="133355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79" y="4078224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✔ Technical &amp; Regional Depth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4315968"/>
            <a:ext cx="2468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 i="0">
                <a:solidFill>
                  <a:srgbClr val="CCCCCC"/>
                </a:solidFill>
                <a:latin typeface="Calibri"/>
              </a:defRPr>
            </a:pPr>
            <a:r>
              <a:t>NER geology context, AI models, GIS stack, offline PWA &amp; vernacular alerts.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120640"/>
            <a:ext cx="8531352" cy="114300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0" y="5212080"/>
            <a:ext cx="8531352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🙏 Thank You — Team AlertNex</a:t>
            </a:r>
          </a:p>
          <a:p>
            <a:pPr algn="ctr">
              <a:spcAft>
                <a:spcPts val="200"/>
              </a:spcAft>
              <a:defRPr sz="1200" b="0" i="1">
                <a:solidFill>
                  <a:srgbClr val="00D4FF"/>
                </a:solidFill>
                <a:latin typeface="Calibri"/>
              </a:defRPr>
            </a:pPr>
            <a:r>
              <a:t>"Empowering NER with AI-driven disaster resilience for a safer tomorrow"</a:t>
            </a:r>
          </a:p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Smart India Hackathon 2026  |  Ministry of Development of North Eastern Region (MDoNER)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28232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Team AlertNex  |  Smart India Hackathon 2026  |  PS: SH2001 (MDoNER)  |  Theme: Disaster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1979</Words>
  <Application>Microsoft Office PowerPoint</Application>
  <PresentationFormat>Widescreen</PresentationFormat>
  <Paragraphs>225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kumar</cp:lastModifiedBy>
  <cp:revision>1</cp:revision>
  <dcterms:created xsi:type="dcterms:W3CDTF">2013-01-27T09:14:16Z</dcterms:created>
  <dcterms:modified xsi:type="dcterms:W3CDTF">2026-09-04T15:54:05Z</dcterms:modified>
  <cp:category/>
</cp:coreProperties>
</file>