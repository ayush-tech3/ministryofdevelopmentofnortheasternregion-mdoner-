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65760"/>
            <a:ext cx="2926080" cy="411480"/>
          </a:xfrm>
          <a:prstGeom prst="roundRect">
            <a:avLst/>
          </a:prstGeom>
          <a:solidFill>
            <a:srgbClr val="0D47A1"/>
          </a:solidFill>
          <a:ln w="12700">
            <a:solidFill>
              <a:srgbClr val="00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SMART INDIA HACKATHON 2026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520440" y="365760"/>
            <a:ext cx="1645920" cy="41148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PS: SH2001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7772400" cy="2011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3400" b="1" i="0">
                <a:solidFill>
                  <a:srgbClr val="FFFFFF"/>
                </a:solidFill>
                <a:latin typeface="Calibri"/>
              </a:defRPr>
            </a:pPr>
            <a:r>
              <a:t>AI-Based Early Warning &amp;</a:t>
            </a:r>
          </a:p>
          <a:p>
            <a:pPr algn="l">
              <a:spcAft>
                <a:spcPts val="400"/>
              </a:spcAft>
              <a:defRPr sz="3400" b="1" i="0">
                <a:solidFill>
                  <a:srgbClr val="00D4FF"/>
                </a:solidFill>
                <a:latin typeface="Calibri"/>
              </a:defRPr>
            </a:pPr>
            <a:r>
              <a:t>Landslide Risk Monitoring System</a:t>
            </a:r>
          </a:p>
          <a:p>
            <a:pPr algn="l">
              <a:spcAft>
                <a:spcPts val="600"/>
              </a:spcAft>
              <a:defRPr sz="2000" b="0" i="0">
                <a:solidFill>
                  <a:srgbClr val="CCCCCC"/>
                </a:solidFill>
                <a:latin typeface="Calibri"/>
              </a:defRPr>
            </a:pPr>
            <a:r>
              <a:t>for North Eastern Region (NER) of India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868680"/>
            <a:ext cx="3291840" cy="2103120"/>
          </a:xfrm>
          <a:prstGeom prst="roundRect">
            <a:avLst/>
          </a:prstGeom>
          <a:solidFill>
            <a:srgbClr val="0F2B4C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503920" y="960120"/>
            <a:ext cx="310896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0" y="1051560"/>
            <a:ext cx="2926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 i="0">
                <a:solidFill>
                  <a:srgbClr val="00D4FF"/>
                </a:solidFill>
                <a:latin typeface="Calibri"/>
              </a:defRPr>
            </a:pPr>
            <a:r>
              <a:t>OFFICIAL PROBLEM DETAILS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1371600"/>
            <a:ext cx="1188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 i="0">
                <a:solidFill>
                  <a:srgbClr val="999999"/>
                </a:solidFill>
                <a:latin typeface="Calibri"/>
              </a:defRPr>
            </a:pPr>
            <a:r>
              <a:t>Organization: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0" y="1371600"/>
            <a:ext cx="19202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 i="0">
                <a:solidFill>
                  <a:srgbClr val="FFFFFF"/>
                </a:solidFill>
                <a:latin typeface="Calibri"/>
              </a:defRPr>
            </a:pPr>
            <a:r>
              <a:t>Ministry of Development of NER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0" y="1664208"/>
            <a:ext cx="1188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 i="0">
                <a:solidFill>
                  <a:srgbClr val="999999"/>
                </a:solidFill>
                <a:latin typeface="Calibri"/>
              </a:defRPr>
            </a:pPr>
            <a:r>
              <a:t>Problem Statement: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0" y="1664208"/>
            <a:ext cx="19202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 i="0">
                <a:solidFill>
                  <a:srgbClr val="FFFFFF"/>
                </a:solidFill>
                <a:latin typeface="Calibri"/>
              </a:defRPr>
            </a:pPr>
            <a:r>
              <a:t>SH2001 (Software Edition)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0" y="1956816"/>
            <a:ext cx="1188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 i="0">
                <a:solidFill>
                  <a:srgbClr val="999999"/>
                </a:solidFill>
                <a:latin typeface="Calibri"/>
              </a:defRPr>
            </a:pPr>
            <a:r>
              <a:t>Theme: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92640" y="1956816"/>
            <a:ext cx="19202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 i="0">
                <a:solidFill>
                  <a:srgbClr val="FFFFFF"/>
                </a:solidFill>
                <a:latin typeface="Calibri"/>
              </a:defRPr>
            </a:pPr>
            <a:r>
              <a:t>Disaster Management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2249424"/>
            <a:ext cx="1188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 i="0">
                <a:solidFill>
                  <a:srgbClr val="999999"/>
                </a:solidFill>
                <a:latin typeface="Calibri"/>
              </a:defRPr>
            </a:pPr>
            <a:r>
              <a:t>Institute Name: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92640" y="2249424"/>
            <a:ext cx="19202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 i="0">
                <a:solidFill>
                  <a:srgbClr val="FFFFFF"/>
                </a:solidFill>
                <a:latin typeface="Calibri"/>
              </a:defRPr>
            </a:pPr>
            <a:r>
              <a:t>[Your College / Institute Name, City]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2542032"/>
            <a:ext cx="1188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 i="0">
                <a:solidFill>
                  <a:srgbClr val="999999"/>
                </a:solidFill>
                <a:latin typeface="Calibri"/>
              </a:defRPr>
            </a:pPr>
            <a:r>
              <a:t>Faculty Mentor: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92640" y="2542032"/>
            <a:ext cx="19202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 i="0">
                <a:solidFill>
                  <a:srgbClr val="FFFFFF"/>
                </a:solidFill>
                <a:latin typeface="Calibri"/>
              </a:defRPr>
            </a:pPr>
            <a:r>
              <a:t>[Faculty Mentor Name / Designation]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017520"/>
            <a:ext cx="4114800" cy="381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108960"/>
            <a:ext cx="502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 i="0">
                <a:solidFill>
                  <a:srgbClr val="FF6B35"/>
                </a:solidFill>
                <a:latin typeface="Calibri"/>
              </a:defRPr>
            </a:pPr>
            <a:r>
              <a:t>Team AlertNex  (Lead: Ayush Kumar)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474720"/>
            <a:ext cx="11247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 i="1">
                <a:solidFill>
                  <a:srgbClr val="00C97B"/>
                </a:solidFill>
                <a:latin typeface="Calibri"/>
              </a:defRPr>
            </a:pPr>
            <a:r>
              <a:t>"Turning raw environmental data into actionable intelligence for landslide disaster resilience in NER"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931920"/>
            <a:ext cx="11274552" cy="2377440"/>
          </a:xfrm>
          <a:prstGeom prst="roundRect">
            <a:avLst/>
          </a:prstGeom>
          <a:solidFill>
            <a:srgbClr val="0F2B4C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4005072"/>
            <a:ext cx="1106424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069080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 i="0">
                <a:solidFill>
                  <a:srgbClr val="00D4FF"/>
                </a:solidFill>
                <a:latin typeface="Calibri"/>
              </a:defRPr>
            </a:pPr>
            <a:r>
              <a:t>TEAM MEMBERS  (SIH 6-Member Mandate Compliant)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069080"/>
            <a:ext cx="5120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 i="1">
                <a:solidFill>
                  <a:srgbClr val="FFC107"/>
                </a:solidFill>
                <a:latin typeface="Calibri"/>
              </a:defRPr>
            </a:pPr>
            <a:r>
              <a:t>✔ Female Representation: Prerana Mondal  |  100% SIH Compliant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" y="4434840"/>
            <a:ext cx="1783080" cy="1783080"/>
          </a:xfrm>
          <a:prstGeom prst="roundRect">
            <a:avLst/>
          </a:prstGeom>
          <a:solidFill>
            <a:srgbClr val="133355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" y="4462272"/>
            <a:ext cx="1691640" cy="254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188720" y="4553712"/>
            <a:ext cx="594360" cy="594360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212080"/>
            <a:ext cx="1691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 i="0">
                <a:solidFill>
                  <a:srgbClr val="FFFFFF"/>
                </a:solidFill>
                <a:latin typeface="Calibri"/>
              </a:defRPr>
            </a:pPr>
            <a:r>
              <a:t>Ayush Kumar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468112"/>
            <a:ext cx="16916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50" b="1" i="0">
                <a:solidFill>
                  <a:srgbClr val="FFC107"/>
                </a:solidFill>
                <a:latin typeface="Calibri"/>
              </a:defRPr>
            </a:pPr>
            <a:r>
              <a:t>Team Leader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5687568"/>
            <a:ext cx="169164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50" b="0" i="0">
                <a:solidFill>
                  <a:srgbClr val="CCCCCC"/>
                </a:solidFill>
                <a:latin typeface="Calibri"/>
              </a:defRPr>
            </a:pPr>
            <a:r>
              <a:t>Full-Stack Dev, AI/ML, System Architecture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441448" y="4434840"/>
            <a:ext cx="1783080" cy="1783080"/>
          </a:xfrm>
          <a:prstGeom prst="roundRect">
            <a:avLst/>
          </a:prstGeom>
          <a:solidFill>
            <a:srgbClr val="133355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487168" y="4462272"/>
            <a:ext cx="1691640" cy="254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035808" y="4553712"/>
            <a:ext cx="594360" cy="594360"/>
          </a:xfrm>
          <a:prstGeom prst="ellipse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487168" y="5212080"/>
            <a:ext cx="1691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 i="0">
                <a:solidFill>
                  <a:srgbClr val="FFFFFF"/>
                </a:solidFill>
                <a:latin typeface="Calibri"/>
              </a:defRPr>
            </a:pPr>
            <a:r>
              <a:t>Prerana Mondal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487168" y="5468112"/>
            <a:ext cx="16916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50" b="1" i="0">
                <a:solidFill>
                  <a:srgbClr val="007BFF"/>
                </a:solidFill>
                <a:latin typeface="Calibri"/>
              </a:defRPr>
            </a:pPr>
            <a:r>
              <a:t>Member (Female)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487168" y="5687568"/>
            <a:ext cx="169164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50" b="0" i="0">
                <a:solidFill>
                  <a:srgbClr val="CCCCCC"/>
                </a:solidFill>
                <a:latin typeface="Calibri"/>
              </a:defRPr>
            </a:pPr>
            <a:r>
              <a:t>Frontend Dev, UI/UX Design, Data Visualization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288536" y="4434840"/>
            <a:ext cx="1783080" cy="1783080"/>
          </a:xfrm>
          <a:prstGeom prst="roundRect">
            <a:avLst/>
          </a:prstGeom>
          <a:solidFill>
            <a:srgbClr val="133355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334256" y="4462272"/>
            <a:ext cx="169164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4882896" y="4553712"/>
            <a:ext cx="594360" cy="59436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34256" y="5212080"/>
            <a:ext cx="1691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 i="0">
                <a:solidFill>
                  <a:srgbClr val="FFFFFF"/>
                </a:solidFill>
                <a:latin typeface="Calibri"/>
              </a:defRPr>
            </a:pPr>
            <a:r>
              <a:t>Sondeep Kumar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34256" y="5468112"/>
            <a:ext cx="16916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50" b="1" i="0">
                <a:solidFill>
                  <a:srgbClr val="00D4FF"/>
                </a:solidFill>
                <a:latin typeface="Calibri"/>
              </a:defRPr>
            </a:pPr>
            <a:r>
              <a:t>Member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34256" y="5687568"/>
            <a:ext cx="169164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50" b="0" i="0">
                <a:solidFill>
                  <a:srgbClr val="CCCCCC"/>
                </a:solidFill>
                <a:latin typeface="Calibri"/>
              </a:defRPr>
            </a:pPr>
            <a:r>
              <a:t>Backend Dev, PostgreSQL/PostGIS, REST APIs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135624" y="4434840"/>
            <a:ext cx="1783080" cy="1783080"/>
          </a:xfrm>
          <a:prstGeom prst="roundRect">
            <a:avLst/>
          </a:prstGeom>
          <a:solidFill>
            <a:srgbClr val="133355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181344" y="4462272"/>
            <a:ext cx="1691640" cy="2540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729984" y="4553712"/>
            <a:ext cx="594360" cy="594360"/>
          </a:xfrm>
          <a:prstGeom prst="ellipse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H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81344" y="5212080"/>
            <a:ext cx="1691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 i="0">
                <a:solidFill>
                  <a:srgbClr val="FFFFFF"/>
                </a:solidFill>
                <a:latin typeface="Calibri"/>
              </a:defRPr>
            </a:pPr>
            <a:r>
              <a:t>Harshit Jha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181344" y="5468112"/>
            <a:ext cx="16916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50" b="1" i="0">
                <a:solidFill>
                  <a:srgbClr val="00C97B"/>
                </a:solidFill>
                <a:latin typeface="Calibri"/>
              </a:defRPr>
            </a:pPr>
            <a:r>
              <a:t>Member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181344" y="5687568"/>
            <a:ext cx="169164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50" b="0" i="0">
                <a:solidFill>
                  <a:srgbClr val="CCCCCC"/>
                </a:solidFill>
                <a:latin typeface="Calibri"/>
              </a:defRPr>
            </a:pPr>
            <a:r>
              <a:t>AI/ML Engineer, Computer Vision, Predictive Models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982712" y="4434840"/>
            <a:ext cx="1783080" cy="1783080"/>
          </a:xfrm>
          <a:prstGeom prst="roundRect">
            <a:avLst/>
          </a:prstGeom>
          <a:solidFill>
            <a:srgbClr val="133355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028432" y="4462272"/>
            <a:ext cx="1691640" cy="25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8577072" y="4553712"/>
            <a:ext cx="594360" cy="59436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028432" y="5212080"/>
            <a:ext cx="1691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 i="0">
                <a:solidFill>
                  <a:srgbClr val="FFFFFF"/>
                </a:solidFill>
                <a:latin typeface="Calibri"/>
              </a:defRPr>
            </a:pPr>
            <a:r>
              <a:t>Saksham Singh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028432" y="5468112"/>
            <a:ext cx="16916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50" b="1" i="0">
                <a:solidFill>
                  <a:srgbClr val="FF6B35"/>
                </a:solidFill>
                <a:latin typeface="Calibri"/>
              </a:defRPr>
            </a:pPr>
            <a:r>
              <a:t>Member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028432" y="5687568"/>
            <a:ext cx="169164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50" b="0" i="0">
                <a:solidFill>
                  <a:srgbClr val="CCCCCC"/>
                </a:solidFill>
                <a:latin typeface="Calibri"/>
              </a:defRPr>
            </a:pPr>
            <a:r>
              <a:t>Geospatial &amp; GIS Analyst, Mobile PWA, QA &amp; Testing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829800" y="4434840"/>
            <a:ext cx="1783080" cy="1783080"/>
          </a:xfrm>
          <a:prstGeom prst="roundRect">
            <a:avLst/>
          </a:prstGeom>
          <a:solidFill>
            <a:srgbClr val="133355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9875520" y="4462272"/>
            <a:ext cx="1691640" cy="25400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10424160" y="4553712"/>
            <a:ext cx="594360" cy="594360"/>
          </a:xfrm>
          <a:prstGeom prst="ellipse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875520" y="5212080"/>
            <a:ext cx="1691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 i="0">
                <a:solidFill>
                  <a:srgbClr val="FFFFFF"/>
                </a:solidFill>
                <a:latin typeface="Calibri"/>
              </a:defRPr>
            </a:pPr>
            <a:r>
              <a:t>[Member 6 Name]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875520" y="5468112"/>
            <a:ext cx="16916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50" b="1" i="0">
                <a:solidFill>
                  <a:srgbClr val="FF4D4D"/>
                </a:solidFill>
                <a:latin typeface="Calibri"/>
              </a:defRPr>
            </a:pPr>
            <a:r>
              <a:t>Member (To Be Updated)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875520" y="5687568"/>
            <a:ext cx="169164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50" b="0" i="0">
                <a:solidFill>
                  <a:srgbClr val="CCCCCC"/>
                </a:solidFill>
                <a:latin typeface="Calibri"/>
              </a:defRPr>
            </a:pPr>
            <a:r>
              <a:t>Cloud Infrastructure, Edge Computing &amp; DevOps Security</a:t>
            </a:r>
          </a:p>
        </p:txBody>
      </p:sp>
      <p:sp>
        <p:nvSpPr>
          <p:cNvPr id="62" name="Rectangle 6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5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0" y="6428232"/>
            <a:ext cx="12191695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57200" y="6473952"/>
            <a:ext cx="7315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 i="0">
                <a:solidFill>
                  <a:srgbClr val="999999"/>
                </a:solidFill>
                <a:latin typeface="Calibri"/>
              </a:defRPr>
            </a:pPr>
            <a:r>
              <a:t>Team AlertNex  |  Smart India Hackathon 2026  |  PS: SH2001 (MDoNER)  |  Theme: Disaster Management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601200" y="6473952"/>
            <a:ext cx="2103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0" i="0">
                <a:solidFill>
                  <a:srgbClr val="999999"/>
                </a:solidFill>
                <a:latin typeface="Calibri"/>
              </a:defRPr>
            </a:pPr>
            <a:r>
              <a:t>Slide 1 of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 i="0">
                <a:solidFill>
                  <a:srgbClr val="FF6B35"/>
                </a:solidFill>
                <a:latin typeface="Calibri"/>
              </a:defRPr>
            </a:pPr>
            <a:r>
              <a:t>SMART INDIA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9144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1" i="0">
                <a:solidFill>
                  <a:srgbClr val="FFFFFF"/>
                </a:solidFill>
                <a:latin typeface="Calibri"/>
              </a:defRPr>
            </a:pPr>
            <a:r>
              <a:t>PROBLEM UNDERSTANDING &amp; BACKGROUND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3200400" cy="381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2560320" cy="2011680"/>
          </a:xfrm>
          <a:prstGeom prst="roundRect">
            <a:avLst/>
          </a:prstGeom>
          <a:solidFill>
            <a:srgbClr val="0F2B4C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143000"/>
            <a:ext cx="2468880" cy="38100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21945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200" b="1" i="0">
                <a:solidFill>
                  <a:srgbClr val="FF4D4D"/>
                </a:solidFill>
                <a:latin typeface="Calibri"/>
              </a:defRPr>
            </a:pPr>
            <a:r>
              <a:t>4,796+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83080"/>
            <a:ext cx="21945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Landslide Events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48840"/>
            <a:ext cx="219456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50" b="0" i="0">
                <a:solidFill>
                  <a:srgbClr val="CCCCCC"/>
                </a:solidFill>
                <a:latin typeface="Calibri"/>
              </a:defRPr>
            </a:pPr>
            <a:r>
              <a:t>recorded in NER</a:t>
            </a:r>
            <a:br/>
            <a:r>
              <a:t>(2015-2024)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1097280"/>
            <a:ext cx="2560320" cy="2011680"/>
          </a:xfrm>
          <a:prstGeom prst="roundRect">
            <a:avLst/>
          </a:prstGeom>
          <a:solidFill>
            <a:srgbClr val="0F2B4C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37560" y="1143000"/>
            <a:ext cx="2468880" cy="381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0" y="1280160"/>
            <a:ext cx="21945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200" b="1" i="0">
                <a:solidFill>
                  <a:srgbClr val="FF6B35"/>
                </a:solidFill>
                <a:latin typeface="Calibri"/>
              </a:defRPr>
            </a:pPr>
            <a:r>
              <a:t>~1,200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1783080"/>
            <a:ext cx="21945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Deaths Annually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2148840"/>
            <a:ext cx="219456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50" b="0" i="0">
                <a:solidFill>
                  <a:srgbClr val="CCCCCC"/>
                </a:solidFill>
                <a:latin typeface="Calibri"/>
              </a:defRPr>
            </a:pPr>
            <a:r>
              <a:t>due to landslides</a:t>
            </a:r>
            <a:br/>
            <a:r>
              <a:t>across India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1097280"/>
            <a:ext cx="2560320" cy="2011680"/>
          </a:xfrm>
          <a:prstGeom prst="roundRect">
            <a:avLst/>
          </a:prstGeom>
          <a:solidFill>
            <a:srgbClr val="0F2B4C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2200" y="1143000"/>
            <a:ext cx="2468880" cy="381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1280160"/>
            <a:ext cx="21945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200" b="1" i="0">
                <a:solidFill>
                  <a:srgbClr val="007BFF"/>
                </a:solidFill>
                <a:latin typeface="Calibri"/>
              </a:defRPr>
            </a:pPr>
            <a:r>
              <a:t>8 States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1783080"/>
            <a:ext cx="21945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Affected Region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2148840"/>
            <a:ext cx="219456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50" b="0" i="0">
                <a:solidFill>
                  <a:srgbClr val="CCCCCC"/>
                </a:solidFill>
                <a:latin typeface="Calibri"/>
              </a:defRPr>
            </a:pPr>
            <a:r>
              <a:t>Arunachal, Assam,</a:t>
            </a:r>
            <a:br/>
            <a:r>
              <a:t>Manipur, Meghalaya,</a:t>
            </a:r>
            <a:br/>
            <a:r>
              <a:t>Mizoram, Nagaland,</a:t>
            </a:r>
            <a:br/>
            <a:r>
              <a:t>Sikkim, Tripura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61120" y="1097280"/>
            <a:ext cx="2560320" cy="2011680"/>
          </a:xfrm>
          <a:prstGeom prst="roundRect">
            <a:avLst/>
          </a:prstGeom>
          <a:solidFill>
            <a:srgbClr val="0F2B4C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06840" y="1143000"/>
            <a:ext cx="246888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0" y="1280160"/>
            <a:ext cx="21945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200" b="1" i="0">
                <a:solidFill>
                  <a:srgbClr val="00D4FF"/>
                </a:solidFill>
                <a:latin typeface="Calibri"/>
              </a:defRPr>
            </a:pPr>
            <a:r>
              <a:t>70%+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1783080"/>
            <a:ext cx="21945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Reactive Response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2148840"/>
            <a:ext cx="219456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50" b="0" i="0">
                <a:solidFill>
                  <a:srgbClr val="CCCCCC"/>
                </a:solidFill>
                <a:latin typeface="Calibri"/>
              </a:defRPr>
            </a:pPr>
            <a:r>
              <a:t>Current systems rely</a:t>
            </a:r>
            <a:br/>
            <a:r>
              <a:t>on manual reporting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3337560"/>
            <a:ext cx="10972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 i="0">
                <a:solidFill>
                  <a:srgbClr val="00D4FF"/>
                </a:solidFill>
                <a:latin typeface="Calibri"/>
              </a:defRPr>
            </a:pPr>
            <a:r>
              <a:t>THE CORE PROBLEM STATEMENT IN NER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3794760"/>
            <a:ext cx="112471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 i="0">
                <a:solidFill>
                  <a:srgbClr val="CCCCCC"/>
                </a:solidFill>
                <a:latin typeface="Calibri"/>
              </a:defRPr>
            </a:pPr>
            <a:r>
              <a:t>• Fragile Himalayan Geology: Young, seismically active terrain with steep slopes prone to catastrophic debris flows and flash floods.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233672"/>
            <a:ext cx="112471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 i="0">
                <a:solidFill>
                  <a:srgbClr val="CCCCCC"/>
                </a:solidFill>
                <a:latin typeface="Calibri"/>
              </a:defRPr>
            </a:pPr>
            <a:r>
              <a:t>• Monsoonal Downpours: Over 2,000 mm annual rainfall triggers rapid soil saturation and elevated pore pressure in hours.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4672584"/>
            <a:ext cx="112471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 i="0">
                <a:solidFill>
                  <a:srgbClr val="CCCCCC"/>
                </a:solidFill>
                <a:latin typeface="Calibri"/>
              </a:defRPr>
            </a:pPr>
            <a:r>
              <a:t>• Highway Severance: Arterial lifelines NH-10 (Sikkim) and NH-29 (Nagaland/Manipur) repeatedly blocked, crippling supply chains.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5111496"/>
            <a:ext cx="112471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 i="0">
                <a:solidFill>
                  <a:srgbClr val="CCCCCC"/>
                </a:solidFill>
                <a:latin typeface="Calibri"/>
              </a:defRPr>
            </a:pPr>
            <a:r>
              <a:t>• Reactive Response: Disaster management currently depends on post-event manual reporting with no unified predictive platform.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550408"/>
            <a:ext cx="112471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 i="0">
                <a:solidFill>
                  <a:srgbClr val="CCCCCC"/>
                </a:solidFill>
                <a:latin typeface="Calibri"/>
              </a:defRPr>
            </a:pPr>
            <a:r>
              <a:t>• Severe Telecom Barriers: Hilly terrain suffers frequent cellular outages during storms, halting warnings without offline failover.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5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0" y="6428232"/>
            <a:ext cx="12191695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6473952"/>
            <a:ext cx="7315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 i="0">
                <a:solidFill>
                  <a:srgbClr val="999999"/>
                </a:solidFill>
                <a:latin typeface="Calibri"/>
              </a:defRPr>
            </a:pPr>
            <a:r>
              <a:t>Team AlertNex  |  Smart India Hackathon 2026  |  PS: SH2001 (MDoNER)  |  Theme: Disaster Management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01200" y="6473952"/>
            <a:ext cx="2103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0" i="0">
                <a:solidFill>
                  <a:srgbClr val="999999"/>
                </a:solidFill>
                <a:latin typeface="Calibri"/>
              </a:defRPr>
            </a:pPr>
            <a:r>
              <a:t>Slide 2 of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 i="0">
                <a:solidFill>
                  <a:srgbClr val="FF6B35"/>
                </a:solidFill>
                <a:latin typeface="Calibri"/>
              </a:defRPr>
            </a:pPr>
            <a:r>
              <a:t>SMART INDIA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9144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1" i="0">
                <a:solidFill>
                  <a:srgbClr val="FFFFFF"/>
                </a:solidFill>
                <a:latin typeface="Calibri"/>
              </a:defRPr>
            </a:pPr>
            <a:r>
              <a:t>PROPOSED SOLUTION — AlertNex PLATFORM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3200400" cy="3810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3566160" cy="2194560"/>
          </a:xfrm>
          <a:prstGeom prst="roundRect">
            <a:avLst/>
          </a:prstGeom>
          <a:solidFill>
            <a:srgbClr val="0F2B4C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234440"/>
            <a:ext cx="3383280" cy="381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1371600"/>
            <a:ext cx="594360" cy="594360"/>
          </a:xfrm>
          <a:prstGeom prst="ellipse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/>
            </a:pPr>
            <a:r>
              <a:t>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05740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 i="0">
                <a:solidFill>
                  <a:srgbClr val="007BFF"/>
                </a:solidFill>
                <a:latin typeface="Calibri"/>
              </a:defRPr>
            </a:pPr>
            <a:r>
              <a:t>Multi-Source Data Ingestion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423160"/>
            <a:ext cx="3200400" cy="868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 i="0">
                <a:solidFill>
                  <a:srgbClr val="CCCCCC"/>
                </a:solidFill>
                <a:latin typeface="Calibri"/>
              </a:defRPr>
            </a:pPr>
            <a:r>
              <a:t>Automated pipelines fusing IMD radar, Sentinel-2 optical/SAR imagery, GSI lithology, and IoT soil readings.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188720"/>
            <a:ext cx="3566160" cy="2194560"/>
          </a:xfrm>
          <a:prstGeom prst="roundRect">
            <a:avLst/>
          </a:prstGeom>
          <a:solidFill>
            <a:srgbClr val="0F2B4C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234440"/>
            <a:ext cx="338328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72000" y="1371600"/>
            <a:ext cx="594360" cy="59436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/>
            </a:pPr>
            <a:r>
              <a:t>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05740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 i="0">
                <a:solidFill>
                  <a:srgbClr val="00D4FF"/>
                </a:solidFill>
                <a:latin typeface="Calibri"/>
              </a:defRPr>
            </a:pPr>
            <a:r>
              <a:t>Hybrid AI/ML Predictive Engine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2423160"/>
            <a:ext cx="3200400" cy="868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 i="0">
                <a:solidFill>
                  <a:srgbClr val="CCCCCC"/>
                </a:solidFill>
                <a:latin typeface="Calibri"/>
              </a:defRPr>
            </a:pPr>
            <a:r>
              <a:t>Ensemble of Random Forest, XGBoost, CNN displacement, and LSTM forecasting slope failure (&gt;90% accuracy).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188720"/>
            <a:ext cx="3566160" cy="2194560"/>
          </a:xfrm>
          <a:prstGeom prst="roundRect">
            <a:avLst/>
          </a:prstGeom>
          <a:solidFill>
            <a:srgbClr val="0F2B4C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0" y="1234440"/>
            <a:ext cx="3383280" cy="3810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412480" y="1371600"/>
            <a:ext cx="594360" cy="594360"/>
          </a:xfrm>
          <a:prstGeom prst="ellipse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/>
            </a:pPr>
            <a:r>
              <a:t>🗺️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205740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 i="0">
                <a:solidFill>
                  <a:srgbClr val="00C97B"/>
                </a:solidFill>
                <a:latin typeface="Calibri"/>
              </a:defRPr>
            </a:pPr>
            <a:r>
              <a:t>Dynamic GIS Risk Heatmaps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2423160"/>
            <a:ext cx="3200400" cy="868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 i="0">
                <a:solidFill>
                  <a:srgbClr val="CCCCCC"/>
                </a:solidFill>
                <a:latin typeface="Calibri"/>
              </a:defRPr>
            </a:pPr>
            <a:r>
              <a:t>Real-time interactive Leaflet &amp; PostGIS visualizer mapping live hazard danger zones &amp; evacuation routes.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657600"/>
            <a:ext cx="3566160" cy="2194560"/>
          </a:xfrm>
          <a:prstGeom prst="roundRect">
            <a:avLst/>
          </a:prstGeom>
          <a:solidFill>
            <a:srgbClr val="0F2B4C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3703320"/>
            <a:ext cx="3383280" cy="381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31520" y="3840480"/>
            <a:ext cx="594360" cy="59436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/>
            </a:pPr>
            <a:r>
              <a:t>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52628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 i="0">
                <a:solidFill>
                  <a:srgbClr val="FF6B35"/>
                </a:solidFill>
                <a:latin typeface="Calibri"/>
              </a:defRPr>
            </a:pPr>
            <a:r>
              <a:t>Multi-Channel Local Alerts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892040"/>
            <a:ext cx="3200400" cy="868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 i="0">
                <a:solidFill>
                  <a:srgbClr val="CCCCCC"/>
                </a:solidFill>
                <a:latin typeface="Calibri"/>
              </a:defRPr>
            </a:pPr>
            <a:r>
              <a:t>Disseminates warnings via SMS, siren triggers, and synthesized voice calls in native NER dialects.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7680" y="3657600"/>
            <a:ext cx="3566160" cy="2194560"/>
          </a:xfrm>
          <a:prstGeom prst="roundRect">
            <a:avLst/>
          </a:prstGeom>
          <a:solidFill>
            <a:srgbClr val="0F2B4C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89120" y="3703320"/>
            <a:ext cx="3383280" cy="381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572000" y="3840480"/>
            <a:ext cx="594360" cy="594360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/>
            </a:pPr>
            <a:r>
              <a:t>📱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452628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 i="0">
                <a:solidFill>
                  <a:srgbClr val="FFC107"/>
                </a:solidFill>
                <a:latin typeface="Calibri"/>
              </a:defRPr>
            </a:pPr>
            <a:r>
              <a:t>Citizen Crowdsourcing PWA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80560" y="4892040"/>
            <a:ext cx="3200400" cy="868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 i="0">
                <a:solidFill>
                  <a:srgbClr val="CCCCCC"/>
                </a:solidFill>
                <a:latin typeface="Calibri"/>
              </a:defRPr>
            </a:pPr>
            <a:r>
              <a:t>Progressive Web App empowering citizens to submit geo-tagged observations of ground cracks &amp; seepage.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38160" y="3657600"/>
            <a:ext cx="3566160" cy="2194560"/>
          </a:xfrm>
          <a:prstGeom prst="roundRect">
            <a:avLst/>
          </a:prstGeom>
          <a:solidFill>
            <a:srgbClr val="0F2B4C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29600" y="3703320"/>
            <a:ext cx="3383280" cy="38100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412480" y="3840480"/>
            <a:ext cx="594360" cy="594360"/>
          </a:xfrm>
          <a:prstGeom prst="ellipse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/>
            </a:pPr>
            <a:r>
              <a:t>📶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0" y="452628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 i="0">
                <a:solidFill>
                  <a:srgbClr val="FF4D4D"/>
                </a:solidFill>
                <a:latin typeface="Calibri"/>
              </a:defRPr>
            </a:pPr>
            <a:r>
              <a:t>Offline &amp; Low-Network Mode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40" y="4892040"/>
            <a:ext cx="3200400" cy="868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 i="0">
                <a:solidFill>
                  <a:srgbClr val="CCCCCC"/>
                </a:solidFill>
                <a:latin typeface="Calibri"/>
              </a:defRPr>
            </a:pPr>
            <a:r>
              <a:t>Edge caching, store-and-forward sync, and SMS fallback ensuring 100% operation during telecom outages.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5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6428232"/>
            <a:ext cx="12191695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6473952"/>
            <a:ext cx="7315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 i="0">
                <a:solidFill>
                  <a:srgbClr val="999999"/>
                </a:solidFill>
                <a:latin typeface="Calibri"/>
              </a:defRPr>
            </a:pPr>
            <a:r>
              <a:t>Team AlertNex  |  Smart India Hackathon 2026  |  PS: SH2001 (MDoNER)  |  Theme: Disaster Management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01200" y="6473952"/>
            <a:ext cx="2103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0" i="0">
                <a:solidFill>
                  <a:srgbClr val="999999"/>
                </a:solidFill>
                <a:latin typeface="Calibri"/>
              </a:defRPr>
            </a:pPr>
            <a:r>
              <a:t>Slide 3 of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 i="0">
                <a:solidFill>
                  <a:srgbClr val="FF6B35"/>
                </a:solidFill>
                <a:latin typeface="Calibri"/>
              </a:defRPr>
            </a:pPr>
            <a:r>
              <a:t>SMART INDIA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9144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1" i="0">
                <a:solidFill>
                  <a:srgbClr val="FFFFFF"/>
                </a:solidFill>
                <a:latin typeface="Calibri"/>
              </a:defRPr>
            </a:pPr>
            <a:r>
              <a:t>TECHNICAL ARCHITECTURE &amp; DATA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3200400" cy="381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2697480" cy="4937760"/>
          </a:xfrm>
          <a:prstGeom prst="roundRect">
            <a:avLst/>
          </a:prstGeom>
          <a:solidFill>
            <a:srgbClr val="0F2B4C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234440"/>
            <a:ext cx="2606040" cy="381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2514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 i="0">
                <a:solidFill>
                  <a:srgbClr val="007BFF"/>
                </a:solidFill>
                <a:latin typeface="Calibri"/>
              </a:defRPr>
            </a:pPr>
            <a:r>
              <a:t>Layer 1: Ingestion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011680"/>
            <a:ext cx="2423160" cy="822960"/>
          </a:xfrm>
          <a:prstGeom prst="roundRect">
            <a:avLst/>
          </a:prstGeom>
          <a:solidFill>
            <a:srgbClr val="133355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103120"/>
            <a:ext cx="23317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 i="0">
                <a:solidFill>
                  <a:srgbClr val="FFFFFF"/>
                </a:solidFill>
                <a:latin typeface="Calibri"/>
              </a:defRPr>
            </a:pPr>
            <a:r>
              <a:t>Sentinel-2 &amp; Landsat Satellites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3017520"/>
            <a:ext cx="2423160" cy="822960"/>
          </a:xfrm>
          <a:prstGeom prst="roundRect">
            <a:avLst/>
          </a:prstGeom>
          <a:solidFill>
            <a:srgbClr val="133355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108960"/>
            <a:ext cx="23317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 i="0">
                <a:solidFill>
                  <a:srgbClr val="FFFFFF"/>
                </a:solidFill>
                <a:latin typeface="Calibri"/>
              </a:defRPr>
            </a:pPr>
            <a:r>
              <a:t>IMD Rainfall Radar APIs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4023360"/>
            <a:ext cx="2423160" cy="822960"/>
          </a:xfrm>
          <a:prstGeom prst="roundRect">
            <a:avLst/>
          </a:prstGeom>
          <a:solidFill>
            <a:srgbClr val="133355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114800"/>
            <a:ext cx="23317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 i="0">
                <a:solidFill>
                  <a:srgbClr val="FFFFFF"/>
                </a:solidFill>
                <a:latin typeface="Calibri"/>
              </a:defRPr>
            </a:pPr>
            <a:r>
              <a:t>GSI Lithology &amp; SRTM DEM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5029200"/>
            <a:ext cx="2423160" cy="822960"/>
          </a:xfrm>
          <a:prstGeom prst="roundRect">
            <a:avLst/>
          </a:prstGeom>
          <a:solidFill>
            <a:srgbClr val="133355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5120640"/>
            <a:ext cx="23317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 i="0">
                <a:solidFill>
                  <a:srgbClr val="FFFFFF"/>
                </a:solidFill>
                <a:latin typeface="Calibri"/>
              </a:defRPr>
            </a:pPr>
            <a:r>
              <a:t>Citizen Geo-tagged Reports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91840" y="1188720"/>
            <a:ext cx="2697480" cy="4937760"/>
          </a:xfrm>
          <a:prstGeom prst="roundRect">
            <a:avLst/>
          </a:prstGeom>
          <a:solidFill>
            <a:srgbClr val="0F2B4C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337560" y="1234440"/>
            <a:ext cx="260604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83280" y="1371600"/>
            <a:ext cx="2514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 i="0">
                <a:solidFill>
                  <a:srgbClr val="00D4FF"/>
                </a:solidFill>
                <a:latin typeface="Calibri"/>
              </a:defRPr>
            </a:pPr>
            <a:r>
              <a:t>Layer 2: AI Analytics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29000" y="2011680"/>
            <a:ext cx="2423160" cy="822960"/>
          </a:xfrm>
          <a:prstGeom prst="roundRect">
            <a:avLst/>
          </a:prstGeom>
          <a:solidFill>
            <a:srgbClr val="133355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74720" y="2103120"/>
            <a:ext cx="23317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 i="0">
                <a:solidFill>
                  <a:srgbClr val="FFFFFF"/>
                </a:solidFill>
                <a:latin typeface="Calibri"/>
              </a:defRPr>
            </a:pPr>
            <a:r>
              <a:t>Feature Extraction (NDVI, Slope)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29000" y="3017520"/>
            <a:ext cx="2423160" cy="822960"/>
          </a:xfrm>
          <a:prstGeom prst="roundRect">
            <a:avLst/>
          </a:prstGeom>
          <a:solidFill>
            <a:srgbClr val="133355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74720" y="3108960"/>
            <a:ext cx="23317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 i="0">
                <a:solidFill>
                  <a:srgbClr val="FFFFFF"/>
                </a:solidFill>
                <a:latin typeface="Calibri"/>
              </a:defRPr>
            </a:pPr>
            <a:r>
              <a:t>Random Forest &amp; XGBoost Ensemble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29000" y="4023360"/>
            <a:ext cx="2423160" cy="822960"/>
          </a:xfrm>
          <a:prstGeom prst="roundRect">
            <a:avLst/>
          </a:prstGeom>
          <a:solidFill>
            <a:srgbClr val="133355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74720" y="4114800"/>
            <a:ext cx="23317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 i="0">
                <a:solidFill>
                  <a:srgbClr val="FFFFFF"/>
                </a:solidFill>
                <a:latin typeface="Calibri"/>
              </a:defRPr>
            </a:pPr>
            <a:r>
              <a:t>CNN Terrain Displacement Model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429000" y="5029200"/>
            <a:ext cx="2423160" cy="822960"/>
          </a:xfrm>
          <a:prstGeom prst="roundRect">
            <a:avLst/>
          </a:prstGeom>
          <a:solidFill>
            <a:srgbClr val="133355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74720" y="5120640"/>
            <a:ext cx="23317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 i="0">
                <a:solidFill>
                  <a:srgbClr val="FFFFFF"/>
                </a:solidFill>
                <a:latin typeface="Calibri"/>
              </a:defRPr>
            </a:pPr>
            <a:r>
              <a:t>LSTM Rainfall Trigger Forecasting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26480" y="1188720"/>
            <a:ext cx="2697480" cy="4937760"/>
          </a:xfrm>
          <a:prstGeom prst="roundRect">
            <a:avLst/>
          </a:prstGeom>
          <a:solidFill>
            <a:srgbClr val="0F2B4C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72200" y="1234440"/>
            <a:ext cx="2606040" cy="3810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0" y="1371600"/>
            <a:ext cx="2514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 i="0">
                <a:solidFill>
                  <a:srgbClr val="00C97B"/>
                </a:solidFill>
                <a:latin typeface="Calibri"/>
              </a:defRPr>
            </a:pPr>
            <a:r>
              <a:t>Layer 3: Geospatial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63640" y="2011680"/>
            <a:ext cx="2423160" cy="822960"/>
          </a:xfrm>
          <a:prstGeom prst="roundRect">
            <a:avLst/>
          </a:prstGeom>
          <a:solidFill>
            <a:srgbClr val="133355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0" y="2103120"/>
            <a:ext cx="23317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 i="0">
                <a:solidFill>
                  <a:srgbClr val="FFFFFF"/>
                </a:solidFill>
                <a:latin typeface="Calibri"/>
              </a:defRPr>
            </a:pPr>
            <a:r>
              <a:t>PostgreSQL / PostGIS Database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63640" y="3017520"/>
            <a:ext cx="2423160" cy="822960"/>
          </a:xfrm>
          <a:prstGeom prst="roundRect">
            <a:avLst/>
          </a:prstGeom>
          <a:solidFill>
            <a:srgbClr val="133355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09360" y="3108960"/>
            <a:ext cx="23317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 i="0">
                <a:solidFill>
                  <a:srgbClr val="FFFFFF"/>
                </a:solidFill>
                <a:latin typeface="Calibri"/>
              </a:defRPr>
            </a:pPr>
            <a:r>
              <a:t>GeoServer Vector Map Tiles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63640" y="4023360"/>
            <a:ext cx="2423160" cy="822960"/>
          </a:xfrm>
          <a:prstGeom prst="roundRect">
            <a:avLst/>
          </a:prstGeom>
          <a:solidFill>
            <a:srgbClr val="133355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09360" y="4114800"/>
            <a:ext cx="23317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 i="0">
                <a:solidFill>
                  <a:srgbClr val="FFFFFF"/>
                </a:solidFill>
                <a:latin typeface="Calibri"/>
              </a:defRPr>
            </a:pPr>
            <a:r>
              <a:t>Shortest Safe Evacuation Routing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63640" y="5029200"/>
            <a:ext cx="2423160" cy="822960"/>
          </a:xfrm>
          <a:prstGeom prst="roundRect">
            <a:avLst/>
          </a:prstGeom>
          <a:solidFill>
            <a:srgbClr val="133355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09360" y="5120640"/>
            <a:ext cx="23317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 i="0">
                <a:solidFill>
                  <a:srgbClr val="FFFFFF"/>
                </a:solidFill>
                <a:latin typeface="Calibri"/>
              </a:defRPr>
            </a:pPr>
            <a:r>
              <a:t>Multilingual Voice &amp; NLP Engine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961120" y="1188720"/>
            <a:ext cx="2697480" cy="4937760"/>
          </a:xfrm>
          <a:prstGeom prst="roundRect">
            <a:avLst/>
          </a:prstGeom>
          <a:solidFill>
            <a:srgbClr val="0F2B4C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006840" y="1234440"/>
            <a:ext cx="2606040" cy="381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052560" y="1371600"/>
            <a:ext cx="2514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 i="0">
                <a:solidFill>
                  <a:srgbClr val="FF6B35"/>
                </a:solidFill>
                <a:latin typeface="Calibri"/>
              </a:defRPr>
            </a:pPr>
            <a:r>
              <a:t>Layer 4: User Apps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098280" y="2011680"/>
            <a:ext cx="2423160" cy="822960"/>
          </a:xfrm>
          <a:prstGeom prst="roundRect">
            <a:avLst/>
          </a:prstGeom>
          <a:solidFill>
            <a:srgbClr val="133355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0" y="2103120"/>
            <a:ext cx="23317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 i="0">
                <a:solidFill>
                  <a:srgbClr val="FFFFFF"/>
                </a:solidFill>
                <a:latin typeface="Calibri"/>
              </a:defRPr>
            </a:pPr>
            <a:r>
              <a:t>Admin Command Dashboard (React)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098280" y="3017520"/>
            <a:ext cx="2423160" cy="822960"/>
          </a:xfrm>
          <a:prstGeom prst="roundRect">
            <a:avLst/>
          </a:prstGeom>
          <a:solidFill>
            <a:srgbClr val="133355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44000" y="3108960"/>
            <a:ext cx="23317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 i="0">
                <a:solidFill>
                  <a:srgbClr val="FFFFFF"/>
                </a:solidFill>
                <a:latin typeface="Calibri"/>
              </a:defRPr>
            </a:pPr>
            <a:r>
              <a:t>Citizen &amp; Field PWA (Offline Sync)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098280" y="4023360"/>
            <a:ext cx="2423160" cy="822960"/>
          </a:xfrm>
          <a:prstGeom prst="roundRect">
            <a:avLst/>
          </a:prstGeom>
          <a:solidFill>
            <a:srgbClr val="133355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144000" y="4114800"/>
            <a:ext cx="23317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 i="0">
                <a:solidFill>
                  <a:srgbClr val="FFFFFF"/>
                </a:solidFill>
                <a:latin typeface="Calibri"/>
              </a:defRPr>
            </a:pPr>
            <a:r>
              <a:t>Public Travel Advisory Portal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098280" y="5029200"/>
            <a:ext cx="2423160" cy="822960"/>
          </a:xfrm>
          <a:prstGeom prst="roundRect">
            <a:avLst/>
          </a:prstGeom>
          <a:solidFill>
            <a:srgbClr val="133355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144000" y="5120640"/>
            <a:ext cx="23317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 i="0">
                <a:solidFill>
                  <a:srgbClr val="FFFFFF"/>
                </a:solidFill>
                <a:latin typeface="Calibri"/>
              </a:defRPr>
            </a:pPr>
            <a:r>
              <a:t>REST APIs for NDMA / BRO</a:t>
            </a:r>
          </a:p>
        </p:txBody>
      </p:sp>
      <p:sp>
        <p:nvSpPr>
          <p:cNvPr id="50" name="Rectangle 49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5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0" y="6428232"/>
            <a:ext cx="12191695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57200" y="6473952"/>
            <a:ext cx="7315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 i="0">
                <a:solidFill>
                  <a:srgbClr val="999999"/>
                </a:solidFill>
                <a:latin typeface="Calibri"/>
              </a:defRPr>
            </a:pPr>
            <a:r>
              <a:t>Team AlertNex  |  Smart India Hackathon 2026  |  PS: SH2001 (MDoNER)  |  Theme: Disaster Management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601200" y="6473952"/>
            <a:ext cx="2103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0" i="0">
                <a:solidFill>
                  <a:srgbClr val="999999"/>
                </a:solidFill>
                <a:latin typeface="Calibri"/>
              </a:defRPr>
            </a:pPr>
            <a:r>
              <a:t>Slide 4 of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 i="0">
                <a:solidFill>
                  <a:srgbClr val="FF6B35"/>
                </a:solidFill>
                <a:latin typeface="Calibri"/>
              </a:defRPr>
            </a:pPr>
            <a:r>
              <a:t>SMART INDIA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9144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1" i="0">
                <a:solidFill>
                  <a:srgbClr val="FFFFFF"/>
                </a:solidFill>
                <a:latin typeface="Calibri"/>
              </a:defRPr>
            </a:pPr>
            <a:r>
              <a:t>INNOVATION, NOVELTY &amp; COMPETITIVE EDGE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3200400" cy="381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5486400" cy="2103120"/>
          </a:xfrm>
          <a:prstGeom prst="roundRect">
            <a:avLst/>
          </a:prstGeom>
          <a:solidFill>
            <a:srgbClr val="0F2B4C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25880"/>
            <a:ext cx="5303520" cy="381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4937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 i="0">
                <a:solidFill>
                  <a:srgbClr val="007BFF"/>
                </a:solidFill>
                <a:latin typeface="Calibri"/>
              </a:defRPr>
            </a:pPr>
            <a:r>
              <a:t>Multi-Modal AI Ensemble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11680"/>
            <a:ext cx="493776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 i="0">
                <a:solidFill>
                  <a:srgbClr val="CCCCCC"/>
                </a:solidFill>
                <a:latin typeface="Calibri"/>
              </a:defRPr>
            </a:pPr>
            <a:r>
              <a:t>Fuses optical satellite imagery, radar InSAR, and ground sensors into an ensemble model achieving &gt;90% precision with low false alarms.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280160"/>
            <a:ext cx="5486400" cy="2103120"/>
          </a:xfrm>
          <a:prstGeom prst="roundRect">
            <a:avLst/>
          </a:prstGeom>
          <a:solidFill>
            <a:srgbClr val="0F2B4C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325880"/>
            <a:ext cx="530352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554480"/>
            <a:ext cx="4937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 i="0">
                <a:solidFill>
                  <a:srgbClr val="00D4FF"/>
                </a:solidFill>
                <a:latin typeface="Calibri"/>
              </a:defRPr>
            </a:pPr>
            <a:r>
              <a:t>Offline-First Resilience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011680"/>
            <a:ext cx="493776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 i="0">
                <a:solidFill>
                  <a:srgbClr val="CCCCCC"/>
                </a:solidFill>
                <a:latin typeface="Calibri"/>
              </a:defRPr>
            </a:pPr>
            <a:r>
              <a:t>Local edge caching with IndexedDB and store-and-forward sync ensures alerts and reporting operate without cellular data.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657600"/>
            <a:ext cx="5486400" cy="2103120"/>
          </a:xfrm>
          <a:prstGeom prst="roundRect">
            <a:avLst/>
          </a:prstGeom>
          <a:solidFill>
            <a:srgbClr val="0F2B4C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703320"/>
            <a:ext cx="5303520" cy="3810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931920"/>
            <a:ext cx="4937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 i="0">
                <a:solidFill>
                  <a:srgbClr val="00C97B"/>
                </a:solidFill>
                <a:latin typeface="Calibri"/>
              </a:defRPr>
            </a:pPr>
            <a:r>
              <a:t>Vernacular Dialect Alerts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389120"/>
            <a:ext cx="493776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 i="0">
                <a:solidFill>
                  <a:srgbClr val="CCCCCC"/>
                </a:solidFill>
                <a:latin typeface="Calibri"/>
              </a:defRPr>
            </a:pPr>
            <a:r>
              <a:t>Automated text and voice synthesis in 10+ North Eastern languages (Assamese, Mizo, Khasi, Manipuri) directly reaching indigenous communities.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657600"/>
            <a:ext cx="5486400" cy="2103120"/>
          </a:xfrm>
          <a:prstGeom prst="roundRect">
            <a:avLst/>
          </a:prstGeom>
          <a:solidFill>
            <a:srgbClr val="0F2B4C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3703320"/>
            <a:ext cx="5303520" cy="381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3931920"/>
            <a:ext cx="4937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 i="0">
                <a:solidFill>
                  <a:srgbClr val="FF6B35"/>
                </a:solidFill>
                <a:latin typeface="Calibri"/>
              </a:defRPr>
            </a:pPr>
            <a:r>
              <a:t>Closed-Loop Crowdsourcing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389120"/>
            <a:ext cx="493776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 i="0">
                <a:solidFill>
                  <a:srgbClr val="CCCCCC"/>
                </a:solidFill>
                <a:latin typeface="Calibri"/>
              </a:defRPr>
            </a:pPr>
            <a:r>
              <a:t>Citizen reports of ground fissures and seepage feed back into models to continuously calibrate and fine-tune hazard boundaries.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5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6428232"/>
            <a:ext cx="12191695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6473952"/>
            <a:ext cx="7315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 i="0">
                <a:solidFill>
                  <a:srgbClr val="999999"/>
                </a:solidFill>
                <a:latin typeface="Calibri"/>
              </a:defRPr>
            </a:pPr>
            <a:r>
              <a:t>Team AlertNex  |  Smart India Hackathon 2026  |  PS: SH2001 (MDoNER)  |  Theme: Disaster Management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6473952"/>
            <a:ext cx="2103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0" i="0">
                <a:solidFill>
                  <a:srgbClr val="999999"/>
                </a:solidFill>
                <a:latin typeface="Calibri"/>
              </a:defRPr>
            </a:pPr>
            <a:r>
              <a:t>Slide 5 of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 i="0">
                <a:solidFill>
                  <a:srgbClr val="FF6B35"/>
                </a:solidFill>
                <a:latin typeface="Calibri"/>
              </a:defRPr>
            </a:pPr>
            <a:r>
              <a:t>SMART INDIA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9144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1" i="0">
                <a:solidFill>
                  <a:srgbClr val="FFFFFF"/>
                </a:solidFill>
                <a:latin typeface="Calibri"/>
              </a:defRPr>
            </a:pPr>
            <a:r>
              <a:t>FEASIBILITY &amp; VIABILITY MATRIX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3200400" cy="3810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5394960" cy="4937760"/>
          </a:xfrm>
          <a:prstGeom prst="roundRect">
            <a:avLst/>
          </a:prstGeom>
          <a:solidFill>
            <a:srgbClr val="0F2B4C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234440"/>
            <a:ext cx="5212080" cy="3810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 i="0">
                <a:solidFill>
                  <a:srgbClr val="00C97B"/>
                </a:solidFill>
                <a:latin typeface="Calibri"/>
              </a:defRPr>
            </a:pPr>
            <a:r>
              <a:t>HACKATHON FEASIBILITY HIGHLIGHTS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28800"/>
            <a:ext cx="5029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50" b="1" i="0">
                <a:solidFill>
                  <a:srgbClr val="FFFFFF"/>
                </a:solidFill>
                <a:latin typeface="Calibri"/>
              </a:defRPr>
            </a:pPr>
            <a:r>
              <a:t>✔ Pre-trained Open Models: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084832"/>
            <a:ext cx="489204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50" b="0" i="0">
                <a:solidFill>
                  <a:srgbClr val="CCCCCC"/>
                </a:solidFill>
                <a:latin typeface="Calibri"/>
              </a:defRPr>
            </a:pPr>
            <a:r>
              <a:t>Using proven XGBoost &amp; Random Forest baselines trained on NRSC catalogs eliminates cold-start training delays.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834640"/>
            <a:ext cx="5029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50" b="1" i="0">
                <a:solidFill>
                  <a:srgbClr val="FFFFFF"/>
                </a:solidFill>
                <a:latin typeface="Calibri"/>
              </a:defRPr>
            </a:pPr>
            <a:r>
              <a:t>✔ Open-Source Geospatial: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090672"/>
            <a:ext cx="489204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50" b="0" i="0">
                <a:solidFill>
                  <a:srgbClr val="CCCCCC"/>
                </a:solidFill>
                <a:latin typeface="Calibri"/>
              </a:defRPr>
            </a:pPr>
            <a:r>
              <a:t>Leaflet + PostGIS + GeoServer enables rapid implementation without proprietary software licensing fees.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840480"/>
            <a:ext cx="5029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50" b="1" i="0">
                <a:solidFill>
                  <a:srgbClr val="FFFFFF"/>
                </a:solidFill>
                <a:latin typeface="Calibri"/>
              </a:defRPr>
            </a:pPr>
            <a:r>
              <a:t>✔ Cloud Containerization: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096512"/>
            <a:ext cx="489204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50" b="0" i="0">
                <a:solidFill>
                  <a:srgbClr val="CCCCCC"/>
                </a:solidFill>
                <a:latin typeface="Calibri"/>
              </a:defRPr>
            </a:pPr>
            <a:r>
              <a:t>Dockerized microservices allow turnkey deployment across testbeds in minutes.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846320"/>
            <a:ext cx="5029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50" b="1" i="0">
                <a:solidFill>
                  <a:srgbClr val="FFFFFF"/>
                </a:solidFill>
                <a:latin typeface="Calibri"/>
              </a:defRPr>
            </a:pPr>
            <a:r>
              <a:t>✔ Zero Licensing Costs: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102352"/>
            <a:ext cx="489204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50" b="0" i="0">
                <a:solidFill>
                  <a:srgbClr val="CCCCCC"/>
                </a:solidFill>
                <a:latin typeface="Calibri"/>
              </a:defRPr>
            </a:pPr>
            <a:r>
              <a:t>100% open-source software stack ensures unmatched economic viability for government scaling.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1188720"/>
            <a:ext cx="5486400" cy="4937760"/>
          </a:xfrm>
          <a:prstGeom prst="roundRect">
            <a:avLst/>
          </a:prstGeom>
          <a:solidFill>
            <a:srgbClr val="0F2B4C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1234440"/>
            <a:ext cx="5303520" cy="38100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1371600"/>
            <a:ext cx="5120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 i="0">
                <a:solidFill>
                  <a:srgbClr val="FF4D4D"/>
                </a:solidFill>
                <a:latin typeface="Calibri"/>
              </a:defRPr>
            </a:pPr>
            <a:r>
              <a:t>CHALLENGES &amp; ENGINEERED MITIGATIONS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1828800"/>
            <a:ext cx="5120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50" b="1" i="0">
                <a:solidFill>
                  <a:srgbClr val="FF6B35"/>
                </a:solidFill>
                <a:latin typeface="Calibri"/>
              </a:defRPr>
            </a:pPr>
            <a:r>
              <a:t>⚠ Hill Telecom Blackouts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2084832"/>
            <a:ext cx="49834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50" b="0" i="0">
                <a:solidFill>
                  <a:srgbClr val="CCCCCC"/>
                </a:solidFill>
                <a:latin typeface="Calibri"/>
              </a:defRPr>
            </a:pPr>
            <a:r>
              <a:t>Mitigation: Offline-first PWA caching + store-and-forward sync + automated SMS broadcast fallback.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834640"/>
            <a:ext cx="5120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50" b="1" i="0">
                <a:solidFill>
                  <a:srgbClr val="FF6B35"/>
                </a:solidFill>
                <a:latin typeface="Calibri"/>
              </a:defRPr>
            </a:pPr>
            <a:r>
              <a:t>⚠ Complex Micro-Climates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3090672"/>
            <a:ext cx="49834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50" b="0" i="0">
                <a:solidFill>
                  <a:srgbClr val="CCCCCC"/>
                </a:solidFill>
                <a:latin typeface="Calibri"/>
              </a:defRPr>
            </a:pPr>
            <a:r>
              <a:t>Mitigation: Ensemble AI fusing local rain gauges with satellite InSAR and DEM slope analysis.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840480"/>
            <a:ext cx="5120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50" b="1" i="0">
                <a:solidFill>
                  <a:srgbClr val="FF6B35"/>
                </a:solidFill>
                <a:latin typeface="Calibri"/>
              </a:defRPr>
            </a:pPr>
            <a:r>
              <a:t>⚠ Ethnic Linguistic Diversity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4096512"/>
            <a:ext cx="49834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50" b="0" i="0">
                <a:solidFill>
                  <a:srgbClr val="CCCCCC"/>
                </a:solidFill>
                <a:latin typeface="Calibri"/>
              </a:defRPr>
            </a:pPr>
            <a:r>
              <a:t>Mitigation: Automated text &amp; speech synthesis in 10+ local North Eastern dialects.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4846320"/>
            <a:ext cx="5120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50" b="1" i="0">
                <a:solidFill>
                  <a:srgbClr val="FF6B35"/>
                </a:solidFill>
                <a:latin typeface="Calibri"/>
              </a:defRPr>
            </a:pPr>
            <a:r>
              <a:t>⚠ Sensor Hardware Expenses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5102352"/>
            <a:ext cx="49834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50" b="0" i="0">
                <a:solidFill>
                  <a:srgbClr val="CCCCCC"/>
                </a:solidFill>
                <a:latin typeface="Calibri"/>
              </a:defRPr>
            </a:pPr>
            <a:r>
              <a:t>Mitigation: Satellite-first baseline monitoring supplemented by low-cost community solar sensors.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5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6428232"/>
            <a:ext cx="12191695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6473952"/>
            <a:ext cx="7315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 i="0">
                <a:solidFill>
                  <a:srgbClr val="999999"/>
                </a:solidFill>
                <a:latin typeface="Calibri"/>
              </a:defRPr>
            </a:pPr>
            <a:r>
              <a:t>Team AlertNex  |  Smart India Hackathon 2026  |  PS: SH2001 (MDoNER)  |  Theme: Disaster Management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0" y="6473952"/>
            <a:ext cx="2103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0" i="0">
                <a:solidFill>
                  <a:srgbClr val="999999"/>
                </a:solidFill>
                <a:latin typeface="Calibri"/>
              </a:defRPr>
            </a:pPr>
            <a:r>
              <a:t>Slide 6 of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 i="0">
                <a:solidFill>
                  <a:srgbClr val="FF6B35"/>
                </a:solidFill>
                <a:latin typeface="Calibri"/>
              </a:defRPr>
            </a:pPr>
            <a:r>
              <a:t>SMART INDIA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9144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1" i="0">
                <a:solidFill>
                  <a:srgbClr val="FFFFFF"/>
                </a:solidFill>
                <a:latin typeface="Calibri"/>
              </a:defRPr>
            </a:pPr>
            <a:r>
              <a:t>IMPACT, BENEFITS &amp; UN SDG ALIGNMENT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32004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2697480" cy="2011680"/>
          </a:xfrm>
          <a:prstGeom prst="roundRect">
            <a:avLst/>
          </a:prstGeom>
          <a:solidFill>
            <a:srgbClr val="0F2B4C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234440"/>
            <a:ext cx="2606040" cy="3810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25146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200" b="1" i="0">
                <a:solidFill>
                  <a:srgbClr val="00C97B"/>
                </a:solidFill>
                <a:latin typeface="Calibri"/>
              </a:defRPr>
            </a:pPr>
            <a:r>
              <a:t>60%+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011680"/>
            <a:ext cx="2514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Casualty Reduction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77440"/>
            <a:ext cx="2514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50" b="0" i="0">
                <a:solidFill>
                  <a:srgbClr val="CCCCCC"/>
                </a:solidFill>
                <a:latin typeface="Calibri"/>
              </a:defRPr>
            </a:pPr>
            <a:r>
              <a:t>2 to 6-hour proactive warning window enables safe mass evacuation before collapse.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1188720"/>
            <a:ext cx="2697480" cy="2011680"/>
          </a:xfrm>
          <a:prstGeom prst="roundRect">
            <a:avLst/>
          </a:prstGeom>
          <a:solidFill>
            <a:srgbClr val="0F2B4C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37560" y="1234440"/>
            <a:ext cx="2606040" cy="381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0" y="1371600"/>
            <a:ext cx="25146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200" b="1" i="0">
                <a:solidFill>
                  <a:srgbClr val="007BFF"/>
                </a:solidFill>
                <a:latin typeface="Calibri"/>
              </a:defRPr>
            </a:pPr>
            <a:r>
              <a:t>₹500 Cr+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2011680"/>
            <a:ext cx="2514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Annual Savings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2377440"/>
            <a:ext cx="2514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50" b="0" i="0">
                <a:solidFill>
                  <a:srgbClr val="CCCCCC"/>
                </a:solidFill>
                <a:latin typeface="Calibri"/>
              </a:defRPr>
            </a:pPr>
            <a:r>
              <a:t>Mitigates highway transit disruption, equipment loss &amp; post-disaster rescue bills.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1188720"/>
            <a:ext cx="2697480" cy="2011680"/>
          </a:xfrm>
          <a:prstGeom prst="roundRect">
            <a:avLst/>
          </a:prstGeom>
          <a:solidFill>
            <a:srgbClr val="0F2B4C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2200" y="1234440"/>
            <a:ext cx="2606040" cy="381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1371600"/>
            <a:ext cx="25146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200" b="1" i="0">
                <a:solidFill>
                  <a:srgbClr val="FF6B35"/>
                </a:solidFill>
                <a:latin typeface="Calibri"/>
              </a:defRPr>
            </a:pPr>
            <a:r>
              <a:t>45M+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2011680"/>
            <a:ext cx="2514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Citizens Protected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2377440"/>
            <a:ext cx="2514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50" b="0" i="0">
                <a:solidFill>
                  <a:srgbClr val="CCCCCC"/>
                </a:solidFill>
                <a:latin typeface="Calibri"/>
              </a:defRPr>
            </a:pPr>
            <a:r>
              <a:t>Comprehensive hazard shielding across all 8 North Eastern states and border villages.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61120" y="1188720"/>
            <a:ext cx="2697480" cy="2011680"/>
          </a:xfrm>
          <a:prstGeom prst="roundRect">
            <a:avLst/>
          </a:prstGeom>
          <a:solidFill>
            <a:srgbClr val="0F2B4C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06840" y="1234440"/>
            <a:ext cx="260604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60" y="1371600"/>
            <a:ext cx="25146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200" b="1" i="0">
                <a:solidFill>
                  <a:srgbClr val="00D4FF"/>
                </a:solidFill>
                <a:latin typeface="Calibri"/>
              </a:defRPr>
            </a:pPr>
            <a:r>
              <a:t>&gt;90%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0" y="2011680"/>
            <a:ext cx="2514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Prediction Precision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60" y="2377440"/>
            <a:ext cx="2514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50" b="0" i="0">
                <a:solidFill>
                  <a:srgbClr val="CCCCCC"/>
                </a:solidFill>
                <a:latin typeface="Calibri"/>
              </a:defRPr>
            </a:pPr>
            <a:r>
              <a:t>Multi-source AI ensemble eliminates false alarms and mitigates alert fatigue.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3474720"/>
            <a:ext cx="11274552" cy="2651760"/>
          </a:xfrm>
          <a:prstGeom prst="roundRect">
            <a:avLst/>
          </a:prstGeom>
          <a:solidFill>
            <a:srgbClr val="0F2B4C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3547872"/>
            <a:ext cx="11064240" cy="381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3639312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 i="0">
                <a:solidFill>
                  <a:srgbClr val="FFC107"/>
                </a:solidFill>
                <a:latin typeface="Calibri"/>
              </a:defRPr>
            </a:pPr>
            <a:r>
              <a:t>ALIGNMENT WITH UN SUSTAINABLE DEVELOPMENT GOALS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023360"/>
            <a:ext cx="2651760" cy="1828800"/>
          </a:xfrm>
          <a:prstGeom prst="roundRect">
            <a:avLst/>
          </a:prstGeom>
          <a:solidFill>
            <a:srgbClr val="133355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85800" y="4069080"/>
            <a:ext cx="2560320" cy="25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4206240"/>
            <a:ext cx="23774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50" b="1" i="0">
                <a:solidFill>
                  <a:srgbClr val="FF6B35"/>
                </a:solidFill>
                <a:latin typeface="Calibri"/>
              </a:defRPr>
            </a:pPr>
            <a:r>
              <a:t>SDG 11: Sustainable Cities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4709160"/>
            <a:ext cx="237744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50" b="0" i="0">
                <a:solidFill>
                  <a:srgbClr val="CCCCCC"/>
                </a:solidFill>
                <a:latin typeface="Calibri"/>
              </a:defRPr>
            </a:pPr>
            <a:r>
              <a:t>Target 11.5: Protect vulnerable hill settlements &amp; reduce disaster casualties.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429000" y="4023360"/>
            <a:ext cx="2651760" cy="1828800"/>
          </a:xfrm>
          <a:prstGeom prst="roundRect">
            <a:avLst/>
          </a:prstGeom>
          <a:solidFill>
            <a:srgbClr val="133355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474720" y="4069080"/>
            <a:ext cx="2560320" cy="2540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566160" y="4206240"/>
            <a:ext cx="23774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50" b="1" i="0">
                <a:solidFill>
                  <a:srgbClr val="00C97B"/>
                </a:solidFill>
                <a:latin typeface="Calibri"/>
              </a:defRPr>
            </a:pPr>
            <a:r>
              <a:t>SDG 13: Climate Action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0" y="4709160"/>
            <a:ext cx="237744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50" b="0" i="0">
                <a:solidFill>
                  <a:srgbClr val="CCCCCC"/>
                </a:solidFill>
                <a:latin typeface="Calibri"/>
              </a:defRPr>
            </a:pPr>
            <a:r>
              <a:t>Target 13.1: Adaptive resilience against climate-driven extreme cloudbursts.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17920" y="4023360"/>
            <a:ext cx="2651760" cy="1828800"/>
          </a:xfrm>
          <a:prstGeom prst="roundRect">
            <a:avLst/>
          </a:prstGeom>
          <a:solidFill>
            <a:srgbClr val="133355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263640" y="4069080"/>
            <a:ext cx="2560320" cy="254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55080" y="4206240"/>
            <a:ext cx="23774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50" b="1" i="0">
                <a:solidFill>
                  <a:srgbClr val="007BFF"/>
                </a:solidFill>
                <a:latin typeface="Calibri"/>
              </a:defRPr>
            </a:pPr>
            <a:r>
              <a:t>SDG 9: Resilient Infrastructure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55080" y="4709160"/>
            <a:ext cx="237744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50" b="0" i="0">
                <a:solidFill>
                  <a:srgbClr val="CCCCCC"/>
                </a:solidFill>
                <a:latin typeface="Calibri"/>
              </a:defRPr>
            </a:pPr>
            <a:r>
              <a:t>Target 9.1: Proactively safeguard highway lifelines (NH-10, NH-29) and bridges.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006839" y="4023360"/>
            <a:ext cx="2651760" cy="1828800"/>
          </a:xfrm>
          <a:prstGeom prst="roundRect">
            <a:avLst/>
          </a:prstGeom>
          <a:solidFill>
            <a:srgbClr val="133355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052559" y="4069080"/>
            <a:ext cx="256032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3999" y="4206240"/>
            <a:ext cx="23774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50" b="1" i="0">
                <a:solidFill>
                  <a:srgbClr val="00D4FF"/>
                </a:solidFill>
                <a:latin typeface="Calibri"/>
              </a:defRPr>
            </a:pPr>
            <a:r>
              <a:t>SDG 17: Multi-Agency Partnerships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3999" y="4709160"/>
            <a:ext cx="237744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50" b="0" i="0">
                <a:solidFill>
                  <a:srgbClr val="CCCCCC"/>
                </a:solidFill>
                <a:latin typeface="Calibri"/>
              </a:defRPr>
            </a:pPr>
            <a:r>
              <a:t>Target 17.16: Unified coordination between MDoNER, NDMA, IMD, GSI &amp; BRO.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5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0" y="6428232"/>
            <a:ext cx="12191695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7200" y="6473952"/>
            <a:ext cx="7315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 i="0">
                <a:solidFill>
                  <a:srgbClr val="999999"/>
                </a:solidFill>
                <a:latin typeface="Calibri"/>
              </a:defRPr>
            </a:pPr>
            <a:r>
              <a:t>Team AlertNex  |  Smart India Hackathon 2026  |  PS: SH2001 (MDoNER)  |  Theme: Disaster Management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01200" y="6473952"/>
            <a:ext cx="2103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0" i="0">
                <a:solidFill>
                  <a:srgbClr val="999999"/>
                </a:solidFill>
                <a:latin typeface="Calibri"/>
              </a:defRPr>
            </a:pPr>
            <a:r>
              <a:t>Slide 7 of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 i="0">
                <a:solidFill>
                  <a:srgbClr val="FF6B35"/>
                </a:solidFill>
                <a:latin typeface="Calibri"/>
              </a:defRPr>
            </a:pPr>
            <a:r>
              <a:t>SMART INDIA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9144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1" i="0">
                <a:solidFill>
                  <a:srgbClr val="FFFFFF"/>
                </a:solidFill>
                <a:latin typeface="Calibri"/>
              </a:defRPr>
            </a:pPr>
            <a:r>
              <a:t>PROTOTYPE ARCHITECTURE &amp; UI/UX WIREFRAMES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3200400" cy="381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3566160" cy="4846320"/>
          </a:xfrm>
          <a:prstGeom prst="roundRect">
            <a:avLst/>
          </a:prstGeom>
          <a:solidFill>
            <a:srgbClr val="0F2B4C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25880"/>
            <a:ext cx="3383280" cy="381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 i="0">
                <a:solidFill>
                  <a:srgbClr val="007BFF"/>
                </a:solidFill>
                <a:latin typeface="Calibri"/>
              </a:defRPr>
            </a:pPr>
            <a:r>
              <a:t>Admin Command Console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74519"/>
            <a:ext cx="320040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50" b="0" i="0">
                <a:solidFill>
                  <a:srgbClr val="CCCCCC"/>
                </a:solidFill>
                <a:latin typeface="Calibri"/>
              </a:defRPr>
            </a:pPr>
            <a:r>
              <a:t>React.js dashboard displaying live interactive Leaflet risk heatmap, weather overlays, and emergency resource dispatch panels.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651760"/>
            <a:ext cx="3200400" cy="3108960"/>
          </a:xfrm>
          <a:prstGeom prst="roundRect">
            <a:avLst/>
          </a:prstGeom>
          <a:solidFill>
            <a:srgbClr val="08182A"/>
          </a:solidFill>
          <a:ln w="12700">
            <a:solidFill>
              <a:srgbClr val="00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926080"/>
            <a:ext cx="3017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 i="0">
                <a:solidFill>
                  <a:srgbClr val="007BFF"/>
                </a:solidFill>
                <a:latin typeface="Calibri"/>
              </a:defRPr>
            </a:pPr>
            <a:r>
              <a:t>MOCKUP PREVIEW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383280"/>
            <a:ext cx="3017520" cy="2011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 i="0">
                <a:solidFill>
                  <a:srgbClr val="CCCCCC"/>
                </a:solidFill>
                <a:latin typeface="Calibri"/>
              </a:defRPr>
            </a:pPr>
            <a:r>
              <a:t>• Interactive GIS layers</a:t>
            </a:r>
            <a:br/>
            <a:r>
              <a:t>• Real-time risk gauge</a:t>
            </a:r>
            <a:br/>
            <a:r>
              <a:t>• SMS Broadcast trigger</a:t>
            </a:r>
            <a:br/>
            <a:r>
              <a:t>• Offline cache indicator</a:t>
            </a:r>
            <a:br/>
            <a:r>
              <a:t>• Evacuation routing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1280160"/>
            <a:ext cx="3566160" cy="4846320"/>
          </a:xfrm>
          <a:prstGeom prst="roundRect">
            <a:avLst/>
          </a:prstGeom>
          <a:solidFill>
            <a:srgbClr val="0F2B4C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0" y="1325880"/>
            <a:ext cx="3383280" cy="3810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60" y="1463040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 i="0">
                <a:solidFill>
                  <a:srgbClr val="00C97B"/>
                </a:solidFill>
                <a:latin typeface="Calibri"/>
              </a:defRPr>
            </a:pPr>
            <a:r>
              <a:t>Citizen Mobile PWA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1874519"/>
            <a:ext cx="320040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50" b="0" i="0">
                <a:solidFill>
                  <a:srgbClr val="CCCCCC"/>
                </a:solidFill>
                <a:latin typeface="Calibri"/>
              </a:defRPr>
            </a:pPr>
            <a:r>
              <a:t>Offline-first application for local hill residents with geo-tagged crack reporting, multilingual voice alerts, and safe evacuation maps.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80560" y="2651760"/>
            <a:ext cx="3200400" cy="3108960"/>
          </a:xfrm>
          <a:prstGeom prst="roundRect">
            <a:avLst/>
          </a:prstGeom>
          <a:solidFill>
            <a:srgbClr val="08182A"/>
          </a:solidFill>
          <a:ln w="12700">
            <a:solidFill>
              <a:srgbClr val="00C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0" y="2926080"/>
            <a:ext cx="3017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 i="0">
                <a:solidFill>
                  <a:srgbClr val="00C97B"/>
                </a:solidFill>
                <a:latin typeface="Calibri"/>
              </a:defRPr>
            </a:pPr>
            <a:r>
              <a:t>MOCKUP PREVIEW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3383280"/>
            <a:ext cx="3017520" cy="2011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 i="0">
                <a:solidFill>
                  <a:srgbClr val="CCCCCC"/>
                </a:solidFill>
                <a:latin typeface="Calibri"/>
              </a:defRPr>
            </a:pPr>
            <a:r>
              <a:t>• Interactive GIS layers</a:t>
            </a:r>
            <a:br/>
            <a:r>
              <a:t>• Real-time risk gauge</a:t>
            </a:r>
            <a:br/>
            <a:r>
              <a:t>• SMS Broadcast trigger</a:t>
            </a:r>
            <a:br/>
            <a:r>
              <a:t>• Offline cache indicator</a:t>
            </a:r>
            <a:br/>
            <a:r>
              <a:t>• Evacuation routing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60" y="1280160"/>
            <a:ext cx="3566160" cy="4846320"/>
          </a:xfrm>
          <a:prstGeom prst="roundRect">
            <a:avLst/>
          </a:prstGeom>
          <a:solidFill>
            <a:srgbClr val="0F2B4C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29600" y="1325880"/>
            <a:ext cx="3383280" cy="381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0" y="1463040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 i="0">
                <a:solidFill>
                  <a:srgbClr val="FF6B35"/>
                </a:solidFill>
                <a:latin typeface="Calibri"/>
              </a:defRPr>
            </a:pPr>
            <a:r>
              <a:t>BRO &amp; Transport Portal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1874519"/>
            <a:ext cx="320040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50" b="0" i="0">
                <a:solidFill>
                  <a:srgbClr val="CCCCCC"/>
                </a:solidFill>
                <a:latin typeface="Calibri"/>
              </a:defRPr>
            </a:pPr>
            <a:r>
              <a:t>Highway vulnerability tracking for NH-10 and NH-29, showing clearance machinery pre-positioning and live road status.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321040" y="2651760"/>
            <a:ext cx="3200400" cy="3108960"/>
          </a:xfrm>
          <a:prstGeom prst="roundRect">
            <a:avLst/>
          </a:prstGeom>
          <a:solidFill>
            <a:srgbClr val="08182A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0" y="2926080"/>
            <a:ext cx="3017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 i="0">
                <a:solidFill>
                  <a:srgbClr val="FF6B35"/>
                </a:solidFill>
                <a:latin typeface="Calibri"/>
              </a:defRPr>
            </a:pPr>
            <a:r>
              <a:t>MOCKUP PREVIEW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3383280"/>
            <a:ext cx="3017520" cy="2011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 i="0">
                <a:solidFill>
                  <a:srgbClr val="CCCCCC"/>
                </a:solidFill>
                <a:latin typeface="Calibri"/>
              </a:defRPr>
            </a:pPr>
            <a:r>
              <a:t>• Interactive GIS layers</a:t>
            </a:r>
            <a:br/>
            <a:r>
              <a:t>• Real-time risk gauge</a:t>
            </a:r>
            <a:br/>
            <a:r>
              <a:t>• SMS Broadcast trigger</a:t>
            </a:r>
            <a:br/>
            <a:r>
              <a:t>• Offline cache indicator</a:t>
            </a:r>
            <a:br/>
            <a:r>
              <a:t>• Evacuation routing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5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6428232"/>
            <a:ext cx="12191695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6473952"/>
            <a:ext cx="7315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 i="0">
                <a:solidFill>
                  <a:srgbClr val="999999"/>
                </a:solidFill>
                <a:latin typeface="Calibri"/>
              </a:defRPr>
            </a:pPr>
            <a:r>
              <a:t>Team AlertNex  |  Smart India Hackathon 2026  |  PS: SH2001 (MDoNER)  |  Theme: Disaster Management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0" y="6473952"/>
            <a:ext cx="2103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0" i="0">
                <a:solidFill>
                  <a:srgbClr val="999999"/>
                </a:solidFill>
                <a:latin typeface="Calibri"/>
              </a:defRPr>
            </a:pPr>
            <a:r>
              <a:t>Slide 8 of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 i="0">
                <a:solidFill>
                  <a:srgbClr val="FF6B35"/>
                </a:solidFill>
                <a:latin typeface="Calibri"/>
              </a:defRPr>
            </a:pPr>
            <a:r>
              <a:t>SMART INDIA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9144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1" i="0">
                <a:solidFill>
                  <a:srgbClr val="FFFFFF"/>
                </a:solidFill>
                <a:latin typeface="Calibri"/>
              </a:defRPr>
            </a:pPr>
            <a:r>
              <a:t>36-HOUR HACKATHON DEVELOPMENT TIMELINE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3200400" cy="3810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11274552" cy="1097280"/>
          </a:xfrm>
          <a:prstGeom prst="roundRect">
            <a:avLst/>
          </a:prstGeom>
          <a:solidFill>
            <a:srgbClr val="0F2B4C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25880"/>
            <a:ext cx="11064240" cy="381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417320"/>
            <a:ext cx="1188720" cy="320040"/>
          </a:xfrm>
          <a:prstGeom prst="round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Phase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1417320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 i="0">
                <a:solidFill>
                  <a:srgbClr val="007BFF"/>
                </a:solidFill>
                <a:latin typeface="Calibri"/>
              </a:defRPr>
            </a:pPr>
            <a:r>
              <a:t>0-8 Hours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141732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Setup &amp; ML Modeling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783080"/>
            <a:ext cx="34747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50" b="0" i="0">
                <a:solidFill>
                  <a:srgbClr val="CCCCCC"/>
                </a:solidFill>
                <a:latin typeface="Calibri"/>
              </a:defRPr>
            </a:pPr>
            <a:r>
              <a:t>▸ Ingest NRSC historical landslide inventory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1783080"/>
            <a:ext cx="34747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50" b="0" i="0">
                <a:solidFill>
                  <a:srgbClr val="CCCCCC"/>
                </a:solidFill>
                <a:latin typeface="Calibri"/>
              </a:defRPr>
            </a:pPr>
            <a:r>
              <a:t>▸ Pre-train Random Forest &amp; XGBoost baseline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1783080"/>
            <a:ext cx="34747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50" b="0" i="0">
                <a:solidFill>
                  <a:srgbClr val="CCCCCC"/>
                </a:solidFill>
                <a:latin typeface="Calibri"/>
              </a:defRPr>
            </a:pPr>
            <a:r>
              <a:t>▸ Establish Git CI/CD &amp; Docker environment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514600"/>
            <a:ext cx="11274552" cy="1097280"/>
          </a:xfrm>
          <a:prstGeom prst="roundRect">
            <a:avLst/>
          </a:prstGeom>
          <a:solidFill>
            <a:srgbClr val="0F2B4C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2560320"/>
            <a:ext cx="1106424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0080" y="2651760"/>
            <a:ext cx="1188720" cy="32004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Phase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2651760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 i="0">
                <a:solidFill>
                  <a:srgbClr val="00D4FF"/>
                </a:solidFill>
                <a:latin typeface="Calibri"/>
              </a:defRPr>
            </a:pPr>
            <a:r>
              <a:t>8-18 Hours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265176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GIS &amp; Spatial Engine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017520"/>
            <a:ext cx="34747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50" b="0" i="0">
                <a:solidFill>
                  <a:srgbClr val="CCCCCC"/>
                </a:solidFill>
                <a:latin typeface="Calibri"/>
              </a:defRPr>
            </a:pPr>
            <a:r>
              <a:t>▸ Configure PostgreSQL / PostGIS spatial DB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3017520"/>
            <a:ext cx="34747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50" b="0" i="0">
                <a:solidFill>
                  <a:srgbClr val="CCCCCC"/>
                </a:solidFill>
                <a:latin typeface="Calibri"/>
              </a:defRPr>
            </a:pPr>
            <a:r>
              <a:t>▸ Deploy GeoServer &amp; MapLibre raster tiles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3017520"/>
            <a:ext cx="34747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50" b="0" i="0">
                <a:solidFill>
                  <a:srgbClr val="CCCCCC"/>
                </a:solidFill>
                <a:latin typeface="Calibri"/>
              </a:defRPr>
            </a:pPr>
            <a:r>
              <a:t>▸ Compute DEM slope &amp; aspect algorithms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749039"/>
            <a:ext cx="11274552" cy="1097280"/>
          </a:xfrm>
          <a:prstGeom prst="roundRect">
            <a:avLst/>
          </a:prstGeom>
          <a:solidFill>
            <a:srgbClr val="0F2B4C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3794759"/>
            <a:ext cx="11064240" cy="3810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0080" y="3886199"/>
            <a:ext cx="1188720" cy="320040"/>
          </a:xfrm>
          <a:prstGeom prst="round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Phase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0" y="3886199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 i="0">
                <a:solidFill>
                  <a:srgbClr val="00C97B"/>
                </a:solidFill>
                <a:latin typeface="Calibri"/>
              </a:defRPr>
            </a:pPr>
            <a:r>
              <a:t>18-28 Hours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74720" y="3886199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UI &amp; Alert Gateways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4251959"/>
            <a:ext cx="34747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50" b="0" i="0">
                <a:solidFill>
                  <a:srgbClr val="CCCCCC"/>
                </a:solidFill>
                <a:latin typeface="Calibri"/>
              </a:defRPr>
            </a:pPr>
            <a:r>
              <a:t>▸ Build React Command Console &amp; PWA UI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97680" y="4251959"/>
            <a:ext cx="34747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50" b="0" i="0">
                <a:solidFill>
                  <a:srgbClr val="CCCCCC"/>
                </a:solidFill>
                <a:latin typeface="Calibri"/>
              </a:defRPr>
            </a:pPr>
            <a:r>
              <a:t>▸ Integrate Twilio SMS &amp; FCM push alerts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0" y="4251959"/>
            <a:ext cx="34747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50" b="0" i="0">
                <a:solidFill>
                  <a:srgbClr val="CCCCCC"/>
                </a:solidFill>
                <a:latin typeface="Calibri"/>
              </a:defRPr>
            </a:pPr>
            <a:r>
              <a:t>▸ Implement offline service worker cache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4983480"/>
            <a:ext cx="11274552" cy="1097280"/>
          </a:xfrm>
          <a:prstGeom prst="roundRect">
            <a:avLst/>
          </a:prstGeom>
          <a:solidFill>
            <a:srgbClr val="0F2B4C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5029200"/>
            <a:ext cx="11064240" cy="381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40080" y="5120640"/>
            <a:ext cx="1188720" cy="32004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Phase 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11680" y="5120640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 i="0">
                <a:solidFill>
                  <a:srgbClr val="FF6B35"/>
                </a:solidFill>
                <a:latin typeface="Calibri"/>
              </a:defRPr>
            </a:pPr>
            <a:r>
              <a:t>28-36 Hours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74720" y="512064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Validation &amp; Pitch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5486400"/>
            <a:ext cx="34747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50" b="0" i="0">
                <a:solidFill>
                  <a:srgbClr val="CCCCCC"/>
                </a:solidFill>
                <a:latin typeface="Calibri"/>
              </a:defRPr>
            </a:pPr>
            <a:r>
              <a:t>▸ Simulate Sikkim cloudburst disaster scenario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97680" y="5486400"/>
            <a:ext cx="34747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50" b="0" i="0">
                <a:solidFill>
                  <a:srgbClr val="CCCCCC"/>
                </a:solidFill>
                <a:latin typeface="Calibri"/>
              </a:defRPr>
            </a:pPr>
            <a:r>
              <a:t>▸ Stress-test offline failover under zero cellular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63840" y="5486400"/>
            <a:ext cx="34747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50" b="0" i="0">
                <a:solidFill>
                  <a:srgbClr val="CCCCCC"/>
                </a:solidFill>
                <a:latin typeface="Calibri"/>
              </a:defRPr>
            </a:pPr>
            <a:r>
              <a:t>▸ Finalize live pitch demo &amp; documentation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5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6428232"/>
            <a:ext cx="12191695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6473952"/>
            <a:ext cx="7315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 i="0">
                <a:solidFill>
                  <a:srgbClr val="999999"/>
                </a:solidFill>
                <a:latin typeface="Calibri"/>
              </a:defRPr>
            </a:pPr>
            <a:r>
              <a:t>Team AlertNex  |  Smart India Hackathon 2026  |  PS: SH2001 (MDoNER)  |  Theme: Disaster Management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01200" y="6473952"/>
            <a:ext cx="2103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0" i="0">
                <a:solidFill>
                  <a:srgbClr val="999999"/>
                </a:solidFill>
                <a:latin typeface="Calibri"/>
              </a:defRPr>
            </a:pPr>
            <a:r>
              <a:t>Slide 9 of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 i="0">
                <a:solidFill>
                  <a:srgbClr val="FF6B35"/>
                </a:solidFill>
                <a:latin typeface="Calibri"/>
              </a:defRPr>
            </a:pPr>
            <a:r>
              <a:t>SMART INDIA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9144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1" i="0">
                <a:solidFill>
                  <a:srgbClr val="FFFFFF"/>
                </a:solidFill>
                <a:latin typeface="Calibri"/>
              </a:defRPr>
            </a:pPr>
            <a:r>
              <a:t>TEAM AlertNex, REFERENCES &amp; SIH AUDIT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32004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810512" cy="2011680"/>
          </a:xfrm>
          <a:prstGeom prst="roundRect">
            <a:avLst/>
          </a:prstGeom>
          <a:solidFill>
            <a:srgbClr val="0F2B4C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143000"/>
            <a:ext cx="1719072" cy="381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51560" y="1234440"/>
            <a:ext cx="594360" cy="594360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874519"/>
            <a:ext cx="1719072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50" b="1" i="0">
                <a:solidFill>
                  <a:srgbClr val="FFFFFF"/>
                </a:solidFill>
                <a:latin typeface="Calibri"/>
              </a:defRPr>
            </a:pPr>
            <a:r>
              <a:t>Ayush Kumar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103120"/>
            <a:ext cx="1719072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1" i="0">
                <a:solidFill>
                  <a:srgbClr val="FFC107"/>
                </a:solidFill>
                <a:latin typeface="Calibri"/>
              </a:defRPr>
            </a:pPr>
            <a:r>
              <a:t>Team Leader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331720"/>
            <a:ext cx="1719072" cy="6858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 i="0">
                <a:solidFill>
                  <a:srgbClr val="CCCCCC"/>
                </a:solidFill>
                <a:latin typeface="Calibri"/>
              </a:defRPr>
            </a:pPr>
            <a:r>
              <a:t>Full-Stack Dev, AI/ML, System Architecture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59152" y="1097280"/>
            <a:ext cx="1810512" cy="2011680"/>
          </a:xfrm>
          <a:prstGeom prst="roundRect">
            <a:avLst/>
          </a:prstGeom>
          <a:solidFill>
            <a:srgbClr val="0F2B4C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404872" y="1143000"/>
            <a:ext cx="1719072" cy="381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953512" y="1234440"/>
            <a:ext cx="594360" cy="594360"/>
          </a:xfrm>
          <a:prstGeom prst="ellipse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04872" y="1874519"/>
            <a:ext cx="1719072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50" b="1" i="0">
                <a:solidFill>
                  <a:srgbClr val="FFFFFF"/>
                </a:solidFill>
                <a:latin typeface="Calibri"/>
              </a:defRPr>
            </a:pPr>
            <a:r>
              <a:t>Prerana Mondal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04872" y="2103120"/>
            <a:ext cx="1719072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1" i="0">
                <a:solidFill>
                  <a:srgbClr val="007BFF"/>
                </a:solidFill>
                <a:latin typeface="Calibri"/>
              </a:defRPr>
            </a:pPr>
            <a:r>
              <a:t>Member (Female)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04872" y="2331720"/>
            <a:ext cx="1719072" cy="6858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 i="0">
                <a:solidFill>
                  <a:srgbClr val="CCCCCC"/>
                </a:solidFill>
                <a:latin typeface="Calibri"/>
              </a:defRPr>
            </a:pPr>
            <a:r>
              <a:t>Frontend Dev, UI/UX Design, Data Visualization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61104" y="1097280"/>
            <a:ext cx="1810512" cy="2011680"/>
          </a:xfrm>
          <a:prstGeom prst="roundRect">
            <a:avLst/>
          </a:prstGeom>
          <a:solidFill>
            <a:srgbClr val="0F2B4C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06824" y="1143000"/>
            <a:ext cx="1719072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855464" y="1234440"/>
            <a:ext cx="594360" cy="59436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06824" y="1874519"/>
            <a:ext cx="1719072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50" b="1" i="0">
                <a:solidFill>
                  <a:srgbClr val="FFFFFF"/>
                </a:solidFill>
                <a:latin typeface="Calibri"/>
              </a:defRPr>
            </a:pPr>
            <a:r>
              <a:t>Sondeep Kumar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06824" y="2103120"/>
            <a:ext cx="1719072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1" i="0">
                <a:solidFill>
                  <a:srgbClr val="00D4FF"/>
                </a:solidFill>
                <a:latin typeface="Calibri"/>
              </a:defRPr>
            </a:pPr>
            <a:r>
              <a:t>Member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06824" y="2331720"/>
            <a:ext cx="1719072" cy="6858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 i="0">
                <a:solidFill>
                  <a:srgbClr val="CCCCCC"/>
                </a:solidFill>
                <a:latin typeface="Calibri"/>
              </a:defRPr>
            </a:pPr>
            <a:r>
              <a:t>Backend Dev, PostgreSQL/PostGIS, REST APIs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63056" y="1097280"/>
            <a:ext cx="1810512" cy="2011680"/>
          </a:xfrm>
          <a:prstGeom prst="roundRect">
            <a:avLst/>
          </a:prstGeom>
          <a:solidFill>
            <a:srgbClr val="0F2B4C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08776" y="1143000"/>
            <a:ext cx="1719072" cy="3810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757416" y="1234440"/>
            <a:ext cx="594360" cy="594360"/>
          </a:xfrm>
          <a:prstGeom prst="ellipse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08776" y="1874519"/>
            <a:ext cx="1719072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50" b="1" i="0">
                <a:solidFill>
                  <a:srgbClr val="FFFFFF"/>
                </a:solidFill>
                <a:latin typeface="Calibri"/>
              </a:defRPr>
            </a:pPr>
            <a:r>
              <a:t>Harshit Jha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08776" y="2103120"/>
            <a:ext cx="1719072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1" i="0">
                <a:solidFill>
                  <a:srgbClr val="00C97B"/>
                </a:solidFill>
                <a:latin typeface="Calibri"/>
              </a:defRPr>
            </a:pPr>
            <a:r>
              <a:t>Member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08776" y="2331720"/>
            <a:ext cx="1719072" cy="6858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 i="0">
                <a:solidFill>
                  <a:srgbClr val="CCCCCC"/>
                </a:solidFill>
                <a:latin typeface="Calibri"/>
              </a:defRPr>
            </a:pPr>
            <a:r>
              <a:t>AI/ML Engineer, Computer Vision, Predictive Models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65008" y="1097280"/>
            <a:ext cx="1810512" cy="2011680"/>
          </a:xfrm>
          <a:prstGeom prst="roundRect">
            <a:avLst/>
          </a:prstGeom>
          <a:solidFill>
            <a:srgbClr val="0F2B4C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10728" y="1143000"/>
            <a:ext cx="1719072" cy="381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659368" y="1234440"/>
            <a:ext cx="594360" cy="59436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10728" y="1874519"/>
            <a:ext cx="1719072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50" b="1" i="0">
                <a:solidFill>
                  <a:srgbClr val="FFFFFF"/>
                </a:solidFill>
                <a:latin typeface="Calibri"/>
              </a:defRPr>
            </a:pPr>
            <a:r>
              <a:t>Saksham Singh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10728" y="2103120"/>
            <a:ext cx="1719072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1" i="0">
                <a:solidFill>
                  <a:srgbClr val="FF6B35"/>
                </a:solidFill>
                <a:latin typeface="Calibri"/>
              </a:defRPr>
            </a:pPr>
            <a:r>
              <a:t>Member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10728" y="2331720"/>
            <a:ext cx="1719072" cy="6858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 i="0">
                <a:solidFill>
                  <a:srgbClr val="CCCCCC"/>
                </a:solidFill>
                <a:latin typeface="Calibri"/>
              </a:defRPr>
            </a:pPr>
            <a:r>
              <a:t>Geospatial &amp; GIS Analyst, Mobile PWA, QA &amp; Testing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966960" y="1097280"/>
            <a:ext cx="1810512" cy="2011680"/>
          </a:xfrm>
          <a:prstGeom prst="roundRect">
            <a:avLst/>
          </a:prstGeom>
          <a:solidFill>
            <a:srgbClr val="0F2B4C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012680" y="1143000"/>
            <a:ext cx="1719072" cy="38100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561320" y="1234440"/>
            <a:ext cx="594360" cy="594360"/>
          </a:xfrm>
          <a:prstGeom prst="ellipse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12680" y="1874519"/>
            <a:ext cx="1719072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50" b="1" i="0">
                <a:solidFill>
                  <a:srgbClr val="FFFFFF"/>
                </a:solidFill>
                <a:latin typeface="Calibri"/>
              </a:defRPr>
            </a:pPr>
            <a:r>
              <a:t>[Member 6 Name]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12680" y="2103120"/>
            <a:ext cx="1719072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1" i="0">
                <a:solidFill>
                  <a:srgbClr val="FF4D4D"/>
                </a:solidFill>
                <a:latin typeface="Calibri"/>
              </a:defRPr>
            </a:pPr>
            <a:r>
              <a:t>Member (To Be Updated)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12680" y="2331720"/>
            <a:ext cx="1719072" cy="6858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 i="0">
                <a:solidFill>
                  <a:srgbClr val="CCCCCC"/>
                </a:solidFill>
                <a:latin typeface="Calibri"/>
              </a:defRPr>
            </a:pPr>
            <a:r>
              <a:t>Cloud Infrastructure, Edge Computing &amp; DevOps Security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57200" y="3337560"/>
            <a:ext cx="11274552" cy="1645920"/>
          </a:xfrm>
          <a:prstGeom prst="roundRect">
            <a:avLst/>
          </a:prstGeom>
          <a:solidFill>
            <a:srgbClr val="0F2B4C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48640" y="3401568"/>
            <a:ext cx="1106424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" y="3474720"/>
            <a:ext cx="54864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 i="0">
                <a:solidFill>
                  <a:srgbClr val="00D4FF"/>
                </a:solidFill>
                <a:latin typeface="Calibri"/>
              </a:defRPr>
            </a:pPr>
            <a:r>
              <a:t>KEY REFERENCES &amp; SATELLITE DATA SOURCES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" y="3794760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50" b="0" i="0">
                <a:solidFill>
                  <a:srgbClr val="CCCCCC"/>
                </a:solidFill>
                <a:latin typeface="Calibri"/>
              </a:defRPr>
            </a:pPr>
            <a:r>
              <a:t>• NRSC / ISRO — Bhuvan Landslide Inventory Database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" y="4114800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50" b="0" i="0">
                <a:solidFill>
                  <a:srgbClr val="CCCCCC"/>
                </a:solidFill>
                <a:latin typeface="Calibri"/>
              </a:defRPr>
            </a:pPr>
            <a:r>
              <a:t>• IMD / MoES — Automatic Weather Station &amp; Doppler Radar APIs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" y="4434840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50" b="0" i="0">
                <a:solidFill>
                  <a:srgbClr val="CCCCCC"/>
                </a:solidFill>
                <a:latin typeface="Calibri"/>
              </a:defRPr>
            </a:pPr>
            <a:r>
              <a:t>• Geological Survey of India (GSI) — 1:50,000 Susceptibility Maps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17920" y="3794760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50" b="0" i="0">
                <a:solidFill>
                  <a:srgbClr val="CCCCCC"/>
                </a:solidFill>
                <a:latin typeface="Calibri"/>
              </a:defRPr>
            </a:pPr>
            <a:r>
              <a:t>• IIT Mandi &amp; Amrita University — AI/IoT Landslide EWS Field Research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17920" y="4114800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50" b="0" i="0">
                <a:solidFill>
                  <a:srgbClr val="CCCCCC"/>
                </a:solidFill>
                <a:latin typeface="Calibri"/>
              </a:defRPr>
            </a:pPr>
            <a:r>
              <a:t>• NDMA Guidelines — National Landslide Risk Management Strategy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17920" y="4434840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50" b="0" i="0">
                <a:solidFill>
                  <a:srgbClr val="CCCCCC"/>
                </a:solidFill>
                <a:latin typeface="Calibri"/>
              </a:defRPr>
            </a:pPr>
            <a:r>
              <a:t>• Copernicus Open Access Hub — Sentinel-1/2 SAR &amp; Optical Satellites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828800" y="5166360"/>
            <a:ext cx="8531352" cy="1097280"/>
          </a:xfrm>
          <a:prstGeom prst="roundRect">
            <a:avLst/>
          </a:prstGeom>
          <a:solidFill>
            <a:srgbClr val="0D47A1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828800" y="5257800"/>
            <a:ext cx="8531352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400"/>
              </a:spcAft>
              <a:defRPr sz="2000" b="1" i="0">
                <a:solidFill>
                  <a:srgbClr val="FFFFFF"/>
                </a:solidFill>
                <a:latin typeface="Calibri"/>
              </a:defRPr>
            </a:pPr>
            <a:r>
              <a:t>🙏 Thank You — Team AlertNex</a:t>
            </a:r>
          </a:p>
          <a:p>
            <a:pPr algn="ctr">
              <a:defRPr sz="1200" b="0" i="1">
                <a:solidFill>
                  <a:srgbClr val="00D4FF"/>
                </a:solidFill>
                <a:latin typeface="Calibri"/>
              </a:defRPr>
            </a:pPr>
            <a:r>
              <a:t>"Empowering NER with AI-driven disaster resilience for a safer tomorrow"</a:t>
            </a:r>
          </a:p>
        </p:txBody>
      </p:sp>
      <p:sp>
        <p:nvSpPr>
          <p:cNvPr id="53" name="Rectangle 52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5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0" y="6428232"/>
            <a:ext cx="12191695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57200" y="6473952"/>
            <a:ext cx="7315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 i="0">
                <a:solidFill>
                  <a:srgbClr val="999999"/>
                </a:solidFill>
                <a:latin typeface="Calibri"/>
              </a:defRPr>
            </a:pPr>
            <a:r>
              <a:t>Team AlertNex  |  Smart India Hackathon 2026  |  PS: SH2001 (MDoNER)  |  Theme: Disaster Management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601200" y="6473952"/>
            <a:ext cx="2103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0" i="0">
                <a:solidFill>
                  <a:srgbClr val="999999"/>
                </a:solidFill>
                <a:latin typeface="Calibri"/>
              </a:defRPr>
            </a:pPr>
            <a:r>
              <a:t>Slide 10 of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